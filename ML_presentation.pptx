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libri (MS) Italics" charset="1" panose="020F05020202040A0204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74503" y="535943"/>
            <a:ext cx="6974843" cy="6974843"/>
            <a:chOff x="0" y="0"/>
            <a:chExt cx="9299791" cy="9299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9265920" cy="9265920"/>
            </a:xfrm>
            <a:custGeom>
              <a:avLst/>
              <a:gdLst/>
              <a:ahLst/>
              <a:cxnLst/>
              <a:rect r="r" b="b" t="t" l="l"/>
              <a:pathLst>
                <a:path h="9265920" w="9265920">
                  <a:moveTo>
                    <a:pt x="0" y="4632960"/>
                  </a:moveTo>
                  <a:cubicBezTo>
                    <a:pt x="0" y="2074291"/>
                    <a:pt x="2074291" y="0"/>
                    <a:pt x="4632960" y="0"/>
                  </a:cubicBezTo>
                  <a:cubicBezTo>
                    <a:pt x="7191629" y="0"/>
                    <a:pt x="9265920" y="2074291"/>
                    <a:pt x="9265920" y="4632960"/>
                  </a:cubicBezTo>
                  <a:cubicBezTo>
                    <a:pt x="9265920" y="7191629"/>
                    <a:pt x="7191629" y="9265920"/>
                    <a:pt x="4632960" y="9265920"/>
                  </a:cubicBezTo>
                  <a:cubicBezTo>
                    <a:pt x="2074291" y="9265920"/>
                    <a:pt x="0" y="7191756"/>
                    <a:pt x="0" y="4632960"/>
                  </a:cubicBezTo>
                  <a:close/>
                </a:path>
              </a:pathLst>
            </a:custGeom>
            <a:solidFill>
              <a:srgbClr val="3B82F6">
                <a:alpha val="78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99829" cy="9299702"/>
            </a:xfrm>
            <a:custGeom>
              <a:avLst/>
              <a:gdLst/>
              <a:ahLst/>
              <a:cxnLst/>
              <a:rect r="r" b="b" t="t" l="l"/>
              <a:pathLst>
                <a:path h="9299702" w="9299829">
                  <a:moveTo>
                    <a:pt x="0" y="4649851"/>
                  </a:moveTo>
                  <a:cubicBezTo>
                    <a:pt x="0" y="2081784"/>
                    <a:pt x="2081784" y="0"/>
                    <a:pt x="4649851" y="0"/>
                  </a:cubicBezTo>
                  <a:lnTo>
                    <a:pt x="4649851" y="16891"/>
                  </a:lnTo>
                  <a:lnTo>
                    <a:pt x="4649851" y="0"/>
                  </a:lnTo>
                  <a:cubicBezTo>
                    <a:pt x="7217918" y="0"/>
                    <a:pt x="9299829" y="2081784"/>
                    <a:pt x="9299829" y="4649851"/>
                  </a:cubicBezTo>
                  <a:lnTo>
                    <a:pt x="9282938" y="4649851"/>
                  </a:lnTo>
                  <a:lnTo>
                    <a:pt x="9299829" y="4649851"/>
                  </a:lnTo>
                  <a:cubicBezTo>
                    <a:pt x="9299829" y="7217918"/>
                    <a:pt x="7218045" y="9299702"/>
                    <a:pt x="4649978" y="9299702"/>
                  </a:cubicBezTo>
                  <a:lnTo>
                    <a:pt x="4649978" y="9282811"/>
                  </a:lnTo>
                  <a:lnTo>
                    <a:pt x="4649978" y="9299702"/>
                  </a:lnTo>
                  <a:cubicBezTo>
                    <a:pt x="2081784" y="9299829"/>
                    <a:pt x="0" y="7217918"/>
                    <a:pt x="0" y="4649851"/>
                  </a:cubicBezTo>
                  <a:lnTo>
                    <a:pt x="16891" y="464985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0" y="4649851"/>
                  </a:lnTo>
                  <a:moveTo>
                    <a:pt x="33909" y="4649851"/>
                  </a:moveTo>
                  <a:cubicBezTo>
                    <a:pt x="33909" y="4659249"/>
                    <a:pt x="26289" y="4666742"/>
                    <a:pt x="17018" y="4666742"/>
                  </a:cubicBezTo>
                  <a:cubicBezTo>
                    <a:pt x="7747" y="4666742"/>
                    <a:pt x="0" y="4659249"/>
                    <a:pt x="0" y="4649851"/>
                  </a:cubicBezTo>
                  <a:cubicBezTo>
                    <a:pt x="0" y="4640453"/>
                    <a:pt x="7620" y="4632960"/>
                    <a:pt x="16891" y="4632960"/>
                  </a:cubicBezTo>
                  <a:cubicBezTo>
                    <a:pt x="26162" y="4632960"/>
                    <a:pt x="33782" y="4640580"/>
                    <a:pt x="33782" y="4649851"/>
                  </a:cubicBezTo>
                  <a:cubicBezTo>
                    <a:pt x="33909" y="7199249"/>
                    <a:pt x="2100580" y="9265920"/>
                    <a:pt x="4649851" y="9265920"/>
                  </a:cubicBezTo>
                  <a:cubicBezTo>
                    <a:pt x="7199249" y="9265920"/>
                    <a:pt x="9265920" y="7199249"/>
                    <a:pt x="9265920" y="4649851"/>
                  </a:cubicBezTo>
                  <a:cubicBezTo>
                    <a:pt x="9265920" y="2100580"/>
                    <a:pt x="7199249" y="33909"/>
                    <a:pt x="4649851" y="33909"/>
                  </a:cubicBezTo>
                  <a:lnTo>
                    <a:pt x="4649851" y="16891"/>
                  </a:lnTo>
                  <a:lnTo>
                    <a:pt x="4649851" y="33909"/>
                  </a:lnTo>
                  <a:cubicBezTo>
                    <a:pt x="2100580" y="33909"/>
                    <a:pt x="33909" y="2100580"/>
                    <a:pt x="33909" y="4649851"/>
                  </a:cubicBezTo>
                  <a:close/>
                </a:path>
              </a:pathLst>
            </a:custGeom>
            <a:solidFill>
              <a:srgbClr val="3B82F6">
                <a:alpha val="862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54663" y="2730503"/>
            <a:ext cx="4597403" cy="4597403"/>
            <a:chOff x="0" y="0"/>
            <a:chExt cx="6129871" cy="6129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00D4AA">
                <a:alpha val="117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00D4AA">
                <a:alpha val="1215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66343" y="5839463"/>
            <a:ext cx="2768603" cy="2768603"/>
            <a:chOff x="0" y="0"/>
            <a:chExt cx="3691471" cy="36914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91509" cy="3691382"/>
            </a:xfrm>
            <a:custGeom>
              <a:avLst/>
              <a:gdLst/>
              <a:ahLst/>
              <a:cxnLst/>
              <a:rect r="r" b="b" t="t" l="l"/>
              <a:pathLst>
                <a:path h="3691382" w="3691509">
                  <a:moveTo>
                    <a:pt x="0" y="1845691"/>
                  </a:moveTo>
                  <a:cubicBezTo>
                    <a:pt x="0" y="826389"/>
                    <a:pt x="826389" y="0"/>
                    <a:pt x="1845691" y="0"/>
                  </a:cubicBezTo>
                  <a:lnTo>
                    <a:pt x="1845691" y="16891"/>
                  </a:lnTo>
                  <a:lnTo>
                    <a:pt x="1845691" y="0"/>
                  </a:lnTo>
                  <a:cubicBezTo>
                    <a:pt x="2865120" y="0"/>
                    <a:pt x="3691509" y="826389"/>
                    <a:pt x="3691509" y="1845691"/>
                  </a:cubicBezTo>
                  <a:cubicBezTo>
                    <a:pt x="3691509" y="2865120"/>
                    <a:pt x="2865120" y="3691382"/>
                    <a:pt x="1845818" y="3691382"/>
                  </a:cubicBezTo>
                  <a:lnTo>
                    <a:pt x="1845818" y="3674491"/>
                  </a:lnTo>
                  <a:lnTo>
                    <a:pt x="1845818" y="3691382"/>
                  </a:lnTo>
                  <a:cubicBezTo>
                    <a:pt x="826389" y="3691509"/>
                    <a:pt x="0" y="2865120"/>
                    <a:pt x="0" y="1845691"/>
                  </a:cubicBezTo>
                  <a:lnTo>
                    <a:pt x="16891" y="1845691"/>
                  </a:lnTo>
                  <a:lnTo>
                    <a:pt x="31115" y="1854835"/>
                  </a:lnTo>
                  <a:cubicBezTo>
                    <a:pt x="27051" y="1861185"/>
                    <a:pt x="19304" y="1864106"/>
                    <a:pt x="12065" y="1861947"/>
                  </a:cubicBezTo>
                  <a:cubicBezTo>
                    <a:pt x="4826" y="1859788"/>
                    <a:pt x="0" y="1853311"/>
                    <a:pt x="0" y="1845691"/>
                  </a:cubicBezTo>
                  <a:moveTo>
                    <a:pt x="33909" y="1845691"/>
                  </a:moveTo>
                  <a:lnTo>
                    <a:pt x="16891" y="1845691"/>
                  </a:lnTo>
                  <a:lnTo>
                    <a:pt x="2667" y="1836547"/>
                  </a:lnTo>
                  <a:cubicBezTo>
                    <a:pt x="6731" y="1830197"/>
                    <a:pt x="14478" y="1827276"/>
                    <a:pt x="21717" y="1829435"/>
                  </a:cubicBezTo>
                  <a:cubicBezTo>
                    <a:pt x="28956" y="1831594"/>
                    <a:pt x="33909" y="1838198"/>
                    <a:pt x="33909" y="1845691"/>
                  </a:cubicBezTo>
                  <a:cubicBezTo>
                    <a:pt x="33909" y="2846451"/>
                    <a:pt x="845058" y="3657600"/>
                    <a:pt x="1845691" y="3657600"/>
                  </a:cubicBezTo>
                  <a:cubicBezTo>
                    <a:pt x="2846451" y="3657600"/>
                    <a:pt x="3657600" y="2846451"/>
                    <a:pt x="3657600" y="1845691"/>
                  </a:cubicBezTo>
                  <a:lnTo>
                    <a:pt x="3674491" y="1845691"/>
                  </a:lnTo>
                  <a:lnTo>
                    <a:pt x="3657600" y="1845691"/>
                  </a:lnTo>
                  <a:cubicBezTo>
                    <a:pt x="3657600" y="845058"/>
                    <a:pt x="2846451" y="33909"/>
                    <a:pt x="1845691" y="33909"/>
                  </a:cubicBezTo>
                  <a:lnTo>
                    <a:pt x="1845691" y="16891"/>
                  </a:lnTo>
                  <a:lnTo>
                    <a:pt x="1845691" y="33909"/>
                  </a:lnTo>
                  <a:cubicBezTo>
                    <a:pt x="845058" y="33909"/>
                    <a:pt x="33909" y="845058"/>
                    <a:pt x="33909" y="1845691"/>
                  </a:cubicBez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005840"/>
            <a:ext cx="11338560" cy="3474720"/>
            <a:chOff x="0" y="0"/>
            <a:chExt cx="15118080" cy="463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1180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82" r="0" b="-135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42875"/>
              <a:ext cx="15118080" cy="477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de Propension</a:t>
              </a:r>
            </a:p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 Retour / Remboursement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8823" y="4595879"/>
            <a:ext cx="8803643" cy="98555"/>
            <a:chOff x="0" y="0"/>
            <a:chExt cx="11738191" cy="1314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1704320" cy="97536"/>
            </a:xfrm>
            <a:custGeom>
              <a:avLst/>
              <a:gdLst/>
              <a:ahLst/>
              <a:cxnLst/>
              <a:rect r="r" b="b" t="t" l="l"/>
              <a:pathLst>
                <a:path h="9753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38101" cy="131320"/>
            </a:xfrm>
            <a:custGeom>
              <a:avLst/>
              <a:gdLst/>
              <a:ahLst/>
              <a:cxnLst/>
              <a:rect r="r" b="b" t="t" l="l"/>
              <a:pathLst>
                <a:path h="131320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114427"/>
                  </a:lnTo>
                  <a:cubicBezTo>
                    <a:pt x="11738101" y="123825"/>
                    <a:pt x="11730482" y="131318"/>
                    <a:pt x="117212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1721211" y="97536"/>
                  </a:lnTo>
                  <a:lnTo>
                    <a:pt x="11721211" y="114427"/>
                  </a:lnTo>
                  <a:lnTo>
                    <a:pt x="11704320" y="114427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4791456"/>
            <a:ext cx="11521440" cy="1554480"/>
            <a:chOff x="0" y="0"/>
            <a:chExt cx="15361920" cy="2072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61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418" r="0" b="-9441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53619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Prédiction des commandes à risque d'annulation ou d'indisponibilité</a:t>
              </a:r>
            </a:p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sur le dataset Olist Brazilian E-Commerce (Kaggle)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6607559"/>
            <a:ext cx="3683003" cy="903227"/>
            <a:chOff x="0" y="0"/>
            <a:chExt cx="4910671" cy="12043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10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87323"/>
                  </a:lnTo>
                  <a:cubicBezTo>
                    <a:pt x="4910582" y="1196721"/>
                    <a:pt x="4902962" y="1204214"/>
                    <a:pt x="4893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4893691" y="1170432"/>
                  </a:lnTo>
                  <a:lnTo>
                    <a:pt x="4893691" y="1187323"/>
                  </a:lnTo>
                  <a:lnTo>
                    <a:pt x="4876800" y="118732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31520" y="6620256"/>
            <a:ext cx="3657600" cy="877824"/>
            <a:chOff x="0" y="0"/>
            <a:chExt cx="4876800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8768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~100 000 commandes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42183" y="6607559"/>
            <a:ext cx="3683003" cy="903227"/>
            <a:chOff x="0" y="0"/>
            <a:chExt cx="4910671" cy="12043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10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87323"/>
                  </a:lnTo>
                  <a:cubicBezTo>
                    <a:pt x="4910582" y="1196721"/>
                    <a:pt x="4902962" y="1204214"/>
                    <a:pt x="4893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4893691" y="1170432"/>
                  </a:lnTo>
                  <a:lnTo>
                    <a:pt x="4893691" y="1187323"/>
                  </a:lnTo>
                  <a:lnTo>
                    <a:pt x="4876800" y="118732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754880" y="6620256"/>
            <a:ext cx="3657600" cy="877824"/>
            <a:chOff x="0" y="0"/>
            <a:chExt cx="4876800" cy="1170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8768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modèles ML comparés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765543" y="6607559"/>
            <a:ext cx="3683003" cy="903227"/>
            <a:chOff x="0" y="0"/>
            <a:chExt cx="4910671" cy="12043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10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87323"/>
                  </a:lnTo>
                  <a:cubicBezTo>
                    <a:pt x="4910582" y="1196721"/>
                    <a:pt x="4902962" y="1204214"/>
                    <a:pt x="4893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4893691" y="1170432"/>
                  </a:lnTo>
                  <a:lnTo>
                    <a:pt x="4893691" y="1187323"/>
                  </a:lnTo>
                  <a:lnTo>
                    <a:pt x="4876800" y="118732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778240" y="6620256"/>
            <a:ext cx="3657600" cy="877824"/>
            <a:chOff x="0" y="0"/>
            <a:chExt cx="4876800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8768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binaire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8823" y="8308343"/>
            <a:ext cx="6426203" cy="1342139"/>
            <a:chOff x="0" y="0"/>
            <a:chExt cx="8568271" cy="17895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681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772539"/>
                  </a:lnTo>
                  <a:cubicBezTo>
                    <a:pt x="8568182" y="1781937"/>
                    <a:pt x="8560562" y="1789430"/>
                    <a:pt x="85512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8551291" y="1755648"/>
                  </a:lnTo>
                  <a:lnTo>
                    <a:pt x="8551291" y="1772539"/>
                  </a:lnTo>
                  <a:lnTo>
                    <a:pt x="8534400" y="177253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8321040"/>
            <a:ext cx="6400800" cy="1316736"/>
            <a:chOff x="0" y="0"/>
            <a:chExt cx="8534400" cy="17556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53440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Mohamed Aziz Karoui &amp; Wassim Sioud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Problématique &amp; Objectifs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4840" y="1905000"/>
            <a:ext cx="17038320" cy="1950720"/>
            <a:chOff x="0" y="0"/>
            <a:chExt cx="22717760" cy="2600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0320" y="20320"/>
              <a:ext cx="22677119" cy="2560320"/>
            </a:xfrm>
            <a:custGeom>
              <a:avLst/>
              <a:gdLst/>
              <a:ahLst/>
              <a:cxnLst/>
              <a:rect r="r" b="b" t="t" l="l"/>
              <a:pathLst>
                <a:path h="256032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7759" cy="2600960"/>
            </a:xfrm>
            <a:custGeom>
              <a:avLst/>
              <a:gdLst/>
              <a:ahLst/>
              <a:cxnLst/>
              <a:rect r="r" b="b" t="t" l="l"/>
              <a:pathLst>
                <a:path h="2600960" w="22717759">
                  <a:moveTo>
                    <a:pt x="20320" y="0"/>
                  </a:moveTo>
                  <a:lnTo>
                    <a:pt x="22697439" y="0"/>
                  </a:lnTo>
                  <a:cubicBezTo>
                    <a:pt x="22708615" y="0"/>
                    <a:pt x="22717759" y="9144"/>
                    <a:pt x="22717759" y="20320"/>
                  </a:cubicBezTo>
                  <a:lnTo>
                    <a:pt x="22717759" y="2580640"/>
                  </a:lnTo>
                  <a:cubicBezTo>
                    <a:pt x="22717759" y="2591816"/>
                    <a:pt x="22708615" y="2600960"/>
                    <a:pt x="22697439" y="2600960"/>
                  </a:cubicBezTo>
                  <a:lnTo>
                    <a:pt x="20320" y="2600960"/>
                  </a:lnTo>
                  <a:cubicBezTo>
                    <a:pt x="9144" y="2600960"/>
                    <a:pt x="0" y="2591816"/>
                    <a:pt x="0" y="258064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2580640"/>
                  </a:lnTo>
                  <a:lnTo>
                    <a:pt x="20320" y="2580640"/>
                  </a:lnTo>
                  <a:lnTo>
                    <a:pt x="20320" y="2560320"/>
                  </a:lnTo>
                  <a:lnTo>
                    <a:pt x="22697439" y="2560320"/>
                  </a:lnTo>
                  <a:lnTo>
                    <a:pt x="22697439" y="2580640"/>
                  </a:lnTo>
                  <a:lnTo>
                    <a:pt x="22677120" y="2580640"/>
                  </a:lnTo>
                  <a:lnTo>
                    <a:pt x="22677120" y="20320"/>
                  </a:lnTo>
                  <a:lnTo>
                    <a:pt x="22697439" y="20320"/>
                  </a:lnTo>
                  <a:lnTo>
                    <a:pt x="22697439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27383" y="1907543"/>
            <a:ext cx="153419" cy="1945643"/>
            <a:chOff x="0" y="0"/>
            <a:chExt cx="204559" cy="25941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2594102"/>
            </a:xfrm>
            <a:custGeom>
              <a:avLst/>
              <a:gdLst/>
              <a:ahLst/>
              <a:cxnLst/>
              <a:rect r="r" b="b" t="t" l="l"/>
              <a:pathLst>
                <a:path h="259410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577211"/>
                  </a:lnTo>
                  <a:cubicBezTo>
                    <a:pt x="204470" y="2586609"/>
                    <a:pt x="196850" y="2594102"/>
                    <a:pt x="187579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87579" y="2560320"/>
                  </a:lnTo>
                  <a:lnTo>
                    <a:pt x="187579" y="2577211"/>
                  </a:lnTo>
                  <a:lnTo>
                    <a:pt x="170688" y="25772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5840" y="1920240"/>
            <a:ext cx="16459200" cy="1920240"/>
            <a:chOff x="0" y="0"/>
            <a:chExt cx="21945600" cy="2560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194560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Comment identifier une commande à risque de retour ou remboursement</a:t>
              </a:r>
            </a:p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avant même sa livraison ?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0555" y="4160139"/>
            <a:ext cx="5505450" cy="5322570"/>
            <a:chOff x="0" y="0"/>
            <a:chExt cx="7340600" cy="7096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7315200" cy="7071360"/>
            </a:xfrm>
            <a:custGeom>
              <a:avLst/>
              <a:gdLst/>
              <a:ahLst/>
              <a:cxnLst/>
              <a:rect r="r" b="b" t="t" l="l"/>
              <a:pathLst>
                <a:path h="7071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0600" cy="7096760"/>
            </a:xfrm>
            <a:custGeom>
              <a:avLst/>
              <a:gdLst/>
              <a:ahLst/>
              <a:cxnLst/>
              <a:rect r="r" b="b" t="t" l="l"/>
              <a:pathLst>
                <a:path h="70967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7084060"/>
                  </a:lnTo>
                  <a:cubicBezTo>
                    <a:pt x="7340600" y="7091045"/>
                    <a:pt x="7334885" y="7096760"/>
                    <a:pt x="7327900" y="7096760"/>
                  </a:cubicBezTo>
                  <a:lnTo>
                    <a:pt x="12700" y="7096760"/>
                  </a:lnTo>
                  <a:cubicBezTo>
                    <a:pt x="5715" y="7096760"/>
                    <a:pt x="0" y="7091045"/>
                    <a:pt x="0" y="7084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084060"/>
                  </a:lnTo>
                  <a:lnTo>
                    <a:pt x="12700" y="7084060"/>
                  </a:lnTo>
                  <a:lnTo>
                    <a:pt x="12700" y="7071360"/>
                  </a:lnTo>
                  <a:lnTo>
                    <a:pt x="7327900" y="7071360"/>
                  </a:lnTo>
                  <a:lnTo>
                    <a:pt x="7327900" y="7084060"/>
                  </a:lnTo>
                  <a:lnTo>
                    <a:pt x="7315200" y="70840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46839" y="4284983"/>
            <a:ext cx="1031243" cy="1031243"/>
            <a:chOff x="0" y="0"/>
            <a:chExt cx="137499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59536" y="4297680"/>
            <a:ext cx="1005840" cy="1005840"/>
            <a:chOff x="0" y="0"/>
            <a:chExt cx="13411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6384" y="5449824"/>
            <a:ext cx="5212080" cy="768096"/>
            <a:chOff x="0" y="0"/>
            <a:chExt cx="694944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49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94944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Objectif Principal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6309360"/>
            <a:ext cx="5029200" cy="2926080"/>
            <a:chOff x="0" y="0"/>
            <a:chExt cx="6705600" cy="3901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05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705600" cy="394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Construire un modèle de classification binaire prédisant si une commande est à risque (1) ou non (0)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391275" y="4160139"/>
            <a:ext cx="5505450" cy="5322570"/>
            <a:chOff x="0" y="0"/>
            <a:chExt cx="7340600" cy="7096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00" y="12700"/>
              <a:ext cx="7315200" cy="7071360"/>
            </a:xfrm>
            <a:custGeom>
              <a:avLst/>
              <a:gdLst/>
              <a:ahLst/>
              <a:cxnLst/>
              <a:rect r="r" b="b" t="t" l="l"/>
              <a:pathLst>
                <a:path h="7071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40600" cy="7096760"/>
            </a:xfrm>
            <a:custGeom>
              <a:avLst/>
              <a:gdLst/>
              <a:ahLst/>
              <a:cxnLst/>
              <a:rect r="r" b="b" t="t" l="l"/>
              <a:pathLst>
                <a:path h="70967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7084060"/>
                  </a:lnTo>
                  <a:cubicBezTo>
                    <a:pt x="7340600" y="7091045"/>
                    <a:pt x="7334885" y="7096760"/>
                    <a:pt x="7327900" y="7096760"/>
                  </a:cubicBezTo>
                  <a:lnTo>
                    <a:pt x="12700" y="7096760"/>
                  </a:lnTo>
                  <a:cubicBezTo>
                    <a:pt x="5715" y="7096760"/>
                    <a:pt x="0" y="7091045"/>
                    <a:pt x="0" y="7084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084060"/>
                  </a:lnTo>
                  <a:lnTo>
                    <a:pt x="12700" y="7084060"/>
                  </a:lnTo>
                  <a:lnTo>
                    <a:pt x="12700" y="7071360"/>
                  </a:lnTo>
                  <a:lnTo>
                    <a:pt x="7327900" y="7071360"/>
                  </a:lnTo>
                  <a:lnTo>
                    <a:pt x="7327900" y="7084060"/>
                  </a:lnTo>
                  <a:lnTo>
                    <a:pt x="7315200" y="70840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607559" y="4284983"/>
            <a:ext cx="1031243" cy="1031243"/>
            <a:chOff x="0" y="0"/>
            <a:chExt cx="1374991" cy="13749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620256" y="4297680"/>
            <a:ext cx="1005840" cy="1005840"/>
            <a:chOff x="0" y="0"/>
            <a:chExt cx="1341120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547104" y="5449824"/>
            <a:ext cx="5212080" cy="768096"/>
            <a:chOff x="0" y="0"/>
            <a:chExt cx="694944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949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94944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 Cible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675120" y="6309360"/>
            <a:ext cx="5029200" cy="2926080"/>
            <a:chOff x="0" y="0"/>
            <a:chExt cx="6705600" cy="3901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05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705600" cy="394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is_return_refund_risk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= annulé / indisponible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= livré avec succès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151995" y="4160139"/>
            <a:ext cx="5505450" cy="5322570"/>
            <a:chOff x="0" y="0"/>
            <a:chExt cx="7340600" cy="70967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2700" y="12700"/>
              <a:ext cx="7315200" cy="7071360"/>
            </a:xfrm>
            <a:custGeom>
              <a:avLst/>
              <a:gdLst/>
              <a:ahLst/>
              <a:cxnLst/>
              <a:rect r="r" b="b" t="t" l="l"/>
              <a:pathLst>
                <a:path h="7071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40600" cy="7096760"/>
            </a:xfrm>
            <a:custGeom>
              <a:avLst/>
              <a:gdLst/>
              <a:ahLst/>
              <a:cxnLst/>
              <a:rect r="r" b="b" t="t" l="l"/>
              <a:pathLst>
                <a:path h="70967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7084060"/>
                  </a:lnTo>
                  <a:cubicBezTo>
                    <a:pt x="7340600" y="7091045"/>
                    <a:pt x="7334885" y="7096760"/>
                    <a:pt x="7327900" y="7096760"/>
                  </a:cubicBezTo>
                  <a:lnTo>
                    <a:pt x="12700" y="7096760"/>
                  </a:lnTo>
                  <a:cubicBezTo>
                    <a:pt x="5715" y="7096760"/>
                    <a:pt x="0" y="7091045"/>
                    <a:pt x="0" y="7084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084060"/>
                  </a:lnTo>
                  <a:lnTo>
                    <a:pt x="12700" y="7084060"/>
                  </a:lnTo>
                  <a:lnTo>
                    <a:pt x="12700" y="7071360"/>
                  </a:lnTo>
                  <a:lnTo>
                    <a:pt x="7327900" y="7071360"/>
                  </a:lnTo>
                  <a:lnTo>
                    <a:pt x="7327900" y="7084060"/>
                  </a:lnTo>
                  <a:lnTo>
                    <a:pt x="7315200" y="70840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368279" y="4284983"/>
            <a:ext cx="1031243" cy="1031243"/>
            <a:chOff x="0" y="0"/>
            <a:chExt cx="1374991" cy="13749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380976" y="4297680"/>
            <a:ext cx="1005840" cy="1005840"/>
            <a:chOff x="0" y="0"/>
            <a:chExt cx="1341120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07824" y="5449824"/>
            <a:ext cx="5212080" cy="768096"/>
            <a:chOff x="0" y="0"/>
            <a:chExt cx="6949440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949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694944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Valeur Métier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435840" y="6309360"/>
            <a:ext cx="5029200" cy="2926080"/>
            <a:chOff x="0" y="0"/>
            <a:chExt cx="6705600" cy="3901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705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705600" cy="394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Optimiser la chaîne logistique, réduire les pertes financières et améliorer l'expérience client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— Olist Brazilian E-Commerce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1133856"/>
            <a:ext cx="15727680" cy="512064"/>
            <a:chOff x="0" y="0"/>
            <a:chExt cx="209702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 : Kaggle · 9 fichiers CSV interconnectés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27383" y="1998983"/>
            <a:ext cx="4780283" cy="2219963"/>
            <a:chOff x="0" y="0"/>
            <a:chExt cx="6373711" cy="29599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73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942971"/>
                  </a:lnTo>
                  <a:cubicBezTo>
                    <a:pt x="6373622" y="2952369"/>
                    <a:pt x="6366002" y="2959862"/>
                    <a:pt x="6356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356731" y="2926080"/>
                  </a:lnTo>
                  <a:lnTo>
                    <a:pt x="6356731" y="2942971"/>
                  </a:lnTo>
                  <a:lnTo>
                    <a:pt x="6339840" y="294297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2103120"/>
            <a:ext cx="4754880" cy="1188720"/>
            <a:chOff x="0" y="0"/>
            <a:chExt cx="6339840" cy="1584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52400"/>
              <a:ext cx="633984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~100K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0080" y="3291840"/>
            <a:ext cx="4754880" cy="768096"/>
            <a:chOff x="0" y="0"/>
            <a:chExt cx="633984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398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Commandes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7383" y="4559303"/>
            <a:ext cx="4780283" cy="2219963"/>
            <a:chOff x="0" y="0"/>
            <a:chExt cx="6373711" cy="29599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73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942971"/>
                  </a:lnTo>
                  <a:cubicBezTo>
                    <a:pt x="6373622" y="2952369"/>
                    <a:pt x="6366002" y="2959862"/>
                    <a:pt x="6356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356731" y="2926080"/>
                  </a:lnTo>
                  <a:lnTo>
                    <a:pt x="6356731" y="2942971"/>
                  </a:lnTo>
                  <a:lnTo>
                    <a:pt x="6339840" y="294297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0080" y="4663440"/>
            <a:ext cx="4754880" cy="1188720"/>
            <a:chOff x="0" y="0"/>
            <a:chExt cx="6339840" cy="1584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39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52400"/>
              <a:ext cx="633984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0080" y="5852160"/>
            <a:ext cx="4754880" cy="768096"/>
            <a:chOff x="0" y="0"/>
            <a:chExt cx="633984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3398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Tables CSV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7383" y="7119623"/>
            <a:ext cx="4780283" cy="2219963"/>
            <a:chOff x="0" y="0"/>
            <a:chExt cx="6373711" cy="29599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73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942971"/>
                  </a:lnTo>
                  <a:cubicBezTo>
                    <a:pt x="6373622" y="2952369"/>
                    <a:pt x="6366002" y="2959862"/>
                    <a:pt x="6356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356731" y="2926080"/>
                  </a:lnTo>
                  <a:lnTo>
                    <a:pt x="6356731" y="2942971"/>
                  </a:lnTo>
                  <a:lnTo>
                    <a:pt x="6339840" y="294297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0080" y="7223760"/>
            <a:ext cx="4754880" cy="1188720"/>
            <a:chOff x="0" y="0"/>
            <a:chExt cx="6339840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9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52400"/>
              <a:ext cx="633984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40080" y="8412480"/>
            <a:ext cx="4754880" cy="768096"/>
            <a:chOff x="0" y="0"/>
            <a:chExt cx="633984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3398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 retenues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943600" y="1920240"/>
            <a:ext cx="11887200" cy="694944"/>
            <a:chOff x="0" y="0"/>
            <a:chExt cx="158496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849600" cy="926592"/>
            </a:xfrm>
            <a:custGeom>
              <a:avLst/>
              <a:gdLst/>
              <a:ahLst/>
              <a:cxnLst/>
              <a:rect r="r" b="b" t="t" l="l"/>
              <a:pathLst>
                <a:path h="92659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296" r="0" b="-28329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58496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Schéma des 9 tables :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934075" y="2733675"/>
            <a:ext cx="3493770" cy="1518666"/>
            <a:chOff x="0" y="0"/>
            <a:chExt cx="4658360" cy="20248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930903" y="2730503"/>
            <a:ext cx="3500123" cy="135131"/>
            <a:chOff x="0" y="0"/>
            <a:chExt cx="4666831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943600" y="2926080"/>
            <a:ext cx="3474720" cy="1188720"/>
            <a:chOff x="0" y="0"/>
            <a:chExt cx="46329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orders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83115" y="2733675"/>
            <a:ext cx="3493770" cy="1518666"/>
            <a:chOff x="0" y="0"/>
            <a:chExt cx="4658360" cy="20248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9943" y="2730503"/>
            <a:ext cx="3500123" cy="135131"/>
            <a:chOff x="0" y="0"/>
            <a:chExt cx="4666831" cy="1801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692640" y="2926080"/>
            <a:ext cx="3474720" cy="1188720"/>
            <a:chOff x="0" y="0"/>
            <a:chExt cx="4632960" cy="1584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432155" y="2733675"/>
            <a:ext cx="3493770" cy="1518666"/>
            <a:chOff x="0" y="0"/>
            <a:chExt cx="4658360" cy="20248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428983" y="2730503"/>
            <a:ext cx="3500123" cy="135131"/>
            <a:chOff x="0" y="0"/>
            <a:chExt cx="4666831" cy="18017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441680" y="2926080"/>
            <a:ext cx="3474720" cy="1188720"/>
            <a:chOff x="0" y="0"/>
            <a:chExt cx="4632960" cy="15849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order_items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934075" y="4836795"/>
            <a:ext cx="3493770" cy="1518666"/>
            <a:chOff x="0" y="0"/>
            <a:chExt cx="4658360" cy="20248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930903" y="4833623"/>
            <a:ext cx="3500123" cy="135131"/>
            <a:chOff x="0" y="0"/>
            <a:chExt cx="4666831" cy="18017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943600" y="5029200"/>
            <a:ext cx="3474720" cy="1188720"/>
            <a:chOff x="0" y="0"/>
            <a:chExt cx="4632960" cy="15849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payments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683115" y="4836795"/>
            <a:ext cx="3493770" cy="1518666"/>
            <a:chOff x="0" y="0"/>
            <a:chExt cx="4658360" cy="20248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679943" y="4833623"/>
            <a:ext cx="3500123" cy="135131"/>
            <a:chOff x="0" y="0"/>
            <a:chExt cx="4666831" cy="1801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92640" y="5029200"/>
            <a:ext cx="3474720" cy="1188720"/>
            <a:chOff x="0" y="0"/>
            <a:chExt cx="4632960" cy="15849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432155" y="4836795"/>
            <a:ext cx="3493770" cy="1518666"/>
            <a:chOff x="0" y="0"/>
            <a:chExt cx="4658360" cy="20248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428983" y="4833623"/>
            <a:ext cx="3500123" cy="135131"/>
            <a:chOff x="0" y="0"/>
            <a:chExt cx="4666831" cy="18017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441680" y="5029200"/>
            <a:ext cx="3474720" cy="1188720"/>
            <a:chOff x="0" y="0"/>
            <a:chExt cx="4632960" cy="15849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934075" y="6939915"/>
            <a:ext cx="3493770" cy="1518666"/>
            <a:chOff x="0" y="0"/>
            <a:chExt cx="4658360" cy="20248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5930903" y="6936743"/>
            <a:ext cx="3500123" cy="135131"/>
            <a:chOff x="0" y="0"/>
            <a:chExt cx="4666831" cy="18017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5943600" y="7132320"/>
            <a:ext cx="3474720" cy="1188720"/>
            <a:chOff x="0" y="0"/>
            <a:chExt cx="4632960" cy="15849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sellers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683115" y="6939915"/>
            <a:ext cx="3493770" cy="1518666"/>
            <a:chOff x="0" y="0"/>
            <a:chExt cx="4658360" cy="202488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679943" y="6936743"/>
            <a:ext cx="3500123" cy="135131"/>
            <a:chOff x="0" y="0"/>
            <a:chExt cx="4666831" cy="18017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692640" y="7132320"/>
            <a:ext cx="3474720" cy="1188720"/>
            <a:chOff x="0" y="0"/>
            <a:chExt cx="4632960" cy="15849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geolocation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432155" y="6939915"/>
            <a:ext cx="3493770" cy="1518666"/>
            <a:chOff x="0" y="0"/>
            <a:chExt cx="4658360" cy="202488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3428983" y="6936743"/>
            <a:ext cx="3500123" cy="135131"/>
            <a:chOff x="0" y="0"/>
            <a:chExt cx="4666831" cy="18017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441680" y="7132320"/>
            <a:ext cx="3474720" cy="1188720"/>
            <a:chOff x="0" y="0"/>
            <a:chExt cx="4632960" cy="158496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translation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5943600" y="9015984"/>
            <a:ext cx="11887200" cy="640080"/>
            <a:chOff x="0" y="0"/>
            <a:chExt cx="1584960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5849600" cy="853440"/>
            </a:xfrm>
            <a:custGeom>
              <a:avLst/>
              <a:gdLst/>
              <a:ahLst/>
              <a:cxnLst/>
              <a:rect r="r" b="b" t="t" l="l"/>
              <a:pathLst>
                <a:path h="8534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15849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🔗 Jointure sur order_id / product_id / customer_id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Chargement &amp; Fusion des Données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1133856"/>
            <a:ext cx="15727680" cy="512064"/>
            <a:chOff x="0" y="0"/>
            <a:chExt cx="209702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src/data_loader.py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9115" y="2002155"/>
            <a:ext cx="4042410" cy="5688330"/>
            <a:chOff x="0" y="0"/>
            <a:chExt cx="5389880" cy="7584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536448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89880" cy="7584440"/>
            </a:xfrm>
            <a:custGeom>
              <a:avLst/>
              <a:gdLst/>
              <a:ahLst/>
              <a:cxnLst/>
              <a:rect r="r" b="b" t="t" l="l"/>
              <a:pathLst>
                <a:path h="758444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7571740"/>
                  </a:lnTo>
                  <a:cubicBezTo>
                    <a:pt x="5389880" y="7578725"/>
                    <a:pt x="5384165" y="7584440"/>
                    <a:pt x="5377180" y="7584440"/>
                  </a:cubicBezTo>
                  <a:lnTo>
                    <a:pt x="12700" y="7584440"/>
                  </a:lnTo>
                  <a:cubicBezTo>
                    <a:pt x="5715" y="7584440"/>
                    <a:pt x="0" y="7578725"/>
                    <a:pt x="0" y="7571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571740"/>
                  </a:lnTo>
                  <a:lnTo>
                    <a:pt x="12700" y="7571740"/>
                  </a:lnTo>
                  <a:lnTo>
                    <a:pt x="12700" y="7559040"/>
                  </a:lnTo>
                  <a:lnTo>
                    <a:pt x="5377180" y="7559040"/>
                  </a:lnTo>
                  <a:lnTo>
                    <a:pt x="5377180" y="7571740"/>
                  </a:lnTo>
                  <a:lnTo>
                    <a:pt x="5364480" y="757174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8640" y="2157984"/>
            <a:ext cx="4023360" cy="1188720"/>
            <a:chOff x="0" y="0"/>
            <a:chExt cx="5364480" cy="1584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📂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4944" y="3438144"/>
            <a:ext cx="3749040" cy="1005840"/>
            <a:chOff x="0" y="0"/>
            <a:chExt cx="499872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98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9987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load_raw_tables()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4944" y="4572000"/>
            <a:ext cx="3749040" cy="2834640"/>
            <a:chOff x="0" y="0"/>
            <a:chExt cx="4998720" cy="3779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987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010" t="0" r="-4701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99872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Charge les 9 CSV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vers un dict de DataFrames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95879" y="4742183"/>
            <a:ext cx="263147" cy="98555"/>
            <a:chOff x="0" y="0"/>
            <a:chExt cx="350863" cy="13140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891659" y="2002155"/>
            <a:ext cx="4042410" cy="5688330"/>
            <a:chOff x="0" y="0"/>
            <a:chExt cx="5389880" cy="7584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536448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89880" cy="7584440"/>
            </a:xfrm>
            <a:custGeom>
              <a:avLst/>
              <a:gdLst/>
              <a:ahLst/>
              <a:cxnLst/>
              <a:rect r="r" b="b" t="t" l="l"/>
              <a:pathLst>
                <a:path h="758444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7571740"/>
                  </a:lnTo>
                  <a:cubicBezTo>
                    <a:pt x="5389880" y="7578725"/>
                    <a:pt x="5384165" y="7584440"/>
                    <a:pt x="5377180" y="7584440"/>
                  </a:cubicBezTo>
                  <a:lnTo>
                    <a:pt x="12700" y="7584440"/>
                  </a:lnTo>
                  <a:cubicBezTo>
                    <a:pt x="5715" y="7584440"/>
                    <a:pt x="0" y="7578725"/>
                    <a:pt x="0" y="7571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571740"/>
                  </a:lnTo>
                  <a:lnTo>
                    <a:pt x="12700" y="7571740"/>
                  </a:lnTo>
                  <a:lnTo>
                    <a:pt x="12700" y="7559040"/>
                  </a:lnTo>
                  <a:lnTo>
                    <a:pt x="5377180" y="7559040"/>
                  </a:lnTo>
                  <a:lnTo>
                    <a:pt x="5377180" y="7571740"/>
                  </a:lnTo>
                  <a:lnTo>
                    <a:pt x="5364480" y="757174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01184" y="2157984"/>
            <a:ext cx="4023360" cy="1188720"/>
            <a:chOff x="0" y="0"/>
            <a:chExt cx="5364480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🔗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47488" y="3438144"/>
            <a:ext cx="3749040" cy="1005840"/>
            <a:chOff x="0" y="0"/>
            <a:chExt cx="4998720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98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9987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build_master_dataframe()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047488" y="4572000"/>
            <a:ext cx="3749040" cy="2834640"/>
            <a:chOff x="0" y="0"/>
            <a:chExt cx="4998720" cy="3779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987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010" t="0" r="-4701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99872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Jointures successives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 order_id / product_id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948423" y="4742183"/>
            <a:ext cx="263147" cy="98555"/>
            <a:chOff x="0" y="0"/>
            <a:chExt cx="350863" cy="13140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244203" y="2002155"/>
            <a:ext cx="4042410" cy="5688330"/>
            <a:chOff x="0" y="0"/>
            <a:chExt cx="5389880" cy="7584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536448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89880" cy="7584440"/>
            </a:xfrm>
            <a:custGeom>
              <a:avLst/>
              <a:gdLst/>
              <a:ahLst/>
              <a:cxnLst/>
              <a:rect r="r" b="b" t="t" l="l"/>
              <a:pathLst>
                <a:path h="758444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7571740"/>
                  </a:lnTo>
                  <a:cubicBezTo>
                    <a:pt x="5389880" y="7578725"/>
                    <a:pt x="5384165" y="7584440"/>
                    <a:pt x="5377180" y="7584440"/>
                  </a:cubicBezTo>
                  <a:lnTo>
                    <a:pt x="12700" y="7584440"/>
                  </a:lnTo>
                  <a:cubicBezTo>
                    <a:pt x="5715" y="7584440"/>
                    <a:pt x="0" y="7578725"/>
                    <a:pt x="0" y="7571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571740"/>
                  </a:lnTo>
                  <a:lnTo>
                    <a:pt x="12700" y="7571740"/>
                  </a:lnTo>
                  <a:lnTo>
                    <a:pt x="12700" y="7559040"/>
                  </a:lnTo>
                  <a:lnTo>
                    <a:pt x="5377180" y="7559040"/>
                  </a:lnTo>
                  <a:lnTo>
                    <a:pt x="5377180" y="7571740"/>
                  </a:lnTo>
                  <a:lnTo>
                    <a:pt x="5364480" y="757174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253728" y="2157984"/>
            <a:ext cx="4023360" cy="1188720"/>
            <a:chOff x="0" y="0"/>
            <a:chExt cx="5364480" cy="1584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💾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00032" y="3438144"/>
            <a:ext cx="3749040" cy="1005840"/>
            <a:chOff x="0" y="0"/>
            <a:chExt cx="499872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98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9987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save_master_dataframe()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400032" y="4572000"/>
            <a:ext cx="3749040" cy="2834640"/>
            <a:chOff x="0" y="0"/>
            <a:chExt cx="4998720" cy="3779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987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010" t="0" r="-4701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499872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Enregistre master.csv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dans data/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300967" y="4742183"/>
            <a:ext cx="263147" cy="98555"/>
            <a:chOff x="0" y="0"/>
            <a:chExt cx="350863" cy="13140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596747" y="2002155"/>
            <a:ext cx="4042410" cy="5688330"/>
            <a:chOff x="0" y="0"/>
            <a:chExt cx="5389880" cy="7584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12700"/>
              <a:ext cx="536448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89880" cy="7584440"/>
            </a:xfrm>
            <a:custGeom>
              <a:avLst/>
              <a:gdLst/>
              <a:ahLst/>
              <a:cxnLst/>
              <a:rect r="r" b="b" t="t" l="l"/>
              <a:pathLst>
                <a:path h="758444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7571740"/>
                  </a:lnTo>
                  <a:cubicBezTo>
                    <a:pt x="5389880" y="7578725"/>
                    <a:pt x="5384165" y="7584440"/>
                    <a:pt x="5377180" y="7584440"/>
                  </a:cubicBezTo>
                  <a:lnTo>
                    <a:pt x="12700" y="7584440"/>
                  </a:lnTo>
                  <a:cubicBezTo>
                    <a:pt x="5715" y="7584440"/>
                    <a:pt x="0" y="7578725"/>
                    <a:pt x="0" y="7571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571740"/>
                  </a:lnTo>
                  <a:lnTo>
                    <a:pt x="12700" y="7571740"/>
                  </a:lnTo>
                  <a:lnTo>
                    <a:pt x="12700" y="7559040"/>
                  </a:lnTo>
                  <a:lnTo>
                    <a:pt x="5377180" y="7559040"/>
                  </a:lnTo>
                  <a:lnTo>
                    <a:pt x="5377180" y="7571740"/>
                  </a:lnTo>
                  <a:lnTo>
                    <a:pt x="5364480" y="757174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606272" y="2157984"/>
            <a:ext cx="4023360" cy="1188720"/>
            <a:chOff x="0" y="0"/>
            <a:chExt cx="5364480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52576" y="3438144"/>
            <a:ext cx="3749040" cy="1005840"/>
            <a:chOff x="0" y="0"/>
            <a:chExt cx="4998720" cy="1341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998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9987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load_data()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752576" y="4572000"/>
            <a:ext cx="3749040" cy="2834640"/>
            <a:chOff x="0" y="0"/>
            <a:chExt cx="4998720" cy="3779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9987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010" t="0" r="-47010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99872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Fonction principale :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point d'entrée unique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30555" y="7945755"/>
            <a:ext cx="17026890" cy="1664970"/>
            <a:chOff x="0" y="0"/>
            <a:chExt cx="22702520" cy="22199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22677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702520" cy="2219960"/>
            </a:xfrm>
            <a:custGeom>
              <a:avLst/>
              <a:gdLst/>
              <a:ahLst/>
              <a:cxnLst/>
              <a:rect r="r" b="b" t="t" l="l"/>
              <a:pathLst>
                <a:path h="2219960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2207260"/>
                  </a:lnTo>
                  <a:cubicBezTo>
                    <a:pt x="22702520" y="2214245"/>
                    <a:pt x="22696805" y="2219960"/>
                    <a:pt x="22689820" y="2219960"/>
                  </a:cubicBezTo>
                  <a:lnTo>
                    <a:pt x="12700" y="2219960"/>
                  </a:lnTo>
                  <a:cubicBezTo>
                    <a:pt x="5715" y="2219960"/>
                    <a:pt x="0" y="2214245"/>
                    <a:pt x="0" y="2207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207260"/>
                  </a:lnTo>
                  <a:lnTo>
                    <a:pt x="12700" y="2207260"/>
                  </a:lnTo>
                  <a:lnTo>
                    <a:pt x="12700" y="2194560"/>
                  </a:lnTo>
                  <a:lnTo>
                    <a:pt x="22689820" y="2194560"/>
                  </a:lnTo>
                  <a:lnTo>
                    <a:pt x="22689820" y="2207260"/>
                  </a:lnTo>
                  <a:lnTo>
                    <a:pt x="22677120" y="2207260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14400" y="8010144"/>
            <a:ext cx="3657600" cy="640080"/>
            <a:chOff x="0" y="0"/>
            <a:chExt cx="487680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876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Agrégations clés :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14400" y="8415909"/>
            <a:ext cx="8229600" cy="548640"/>
            <a:chOff x="0" y="0"/>
            <a:chExt cx="1097280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items → item_count, total_price, total_freight (sum)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14400" y="8964549"/>
            <a:ext cx="8229600" cy="548640"/>
            <a:chOff x="0" y="0"/>
            <a:chExt cx="1097280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payments → payment_value (sum), payment_type (mode)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09760" y="8415909"/>
            <a:ext cx="8229600" cy="548640"/>
            <a:chOff x="0" y="0"/>
            <a:chExt cx="1097280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reviews → 1 review / commande (la plus récente)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509760" y="8964549"/>
            <a:ext cx="8229600" cy="548640"/>
            <a:chOff x="0" y="0"/>
            <a:chExt cx="1097280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products → catégorie, poids, photos du 1er article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 &amp; Feature Engineering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1133856"/>
            <a:ext cx="15727680" cy="512064"/>
            <a:chOff x="0" y="0"/>
            <a:chExt cx="209702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src/preprocessing.py — Pipeline complet en 4 étapes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8477" y="1910077"/>
            <a:ext cx="4080253" cy="7701277"/>
            <a:chOff x="0" y="0"/>
            <a:chExt cx="5440337" cy="102683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3589" y="13589"/>
              <a:ext cx="5413248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40426" cy="10268458"/>
            </a:xfrm>
            <a:custGeom>
              <a:avLst/>
              <a:gdLst/>
              <a:ahLst/>
              <a:cxnLst/>
              <a:rect r="r" b="b" t="t" l="l"/>
              <a:pathLst>
                <a:path h="1026845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10254869"/>
                  </a:lnTo>
                  <a:cubicBezTo>
                    <a:pt x="5440426" y="10262362"/>
                    <a:pt x="5434330" y="10268458"/>
                    <a:pt x="5426837" y="10268458"/>
                  </a:cubicBezTo>
                  <a:lnTo>
                    <a:pt x="13589" y="10268458"/>
                  </a:lnTo>
                  <a:cubicBezTo>
                    <a:pt x="6096" y="10268458"/>
                    <a:pt x="0" y="10262362"/>
                    <a:pt x="0" y="102548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254869"/>
                  </a:lnTo>
                  <a:lnTo>
                    <a:pt x="13589" y="10254869"/>
                  </a:lnTo>
                  <a:lnTo>
                    <a:pt x="13589" y="10241280"/>
                  </a:lnTo>
                  <a:lnTo>
                    <a:pt x="5426837" y="10241280"/>
                  </a:lnTo>
                  <a:lnTo>
                    <a:pt x="5426837" y="10254869"/>
                  </a:lnTo>
                  <a:lnTo>
                    <a:pt x="5413248" y="1025486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35943" y="1907543"/>
            <a:ext cx="4085339" cy="976379"/>
            <a:chOff x="0" y="0"/>
            <a:chExt cx="5447119" cy="13018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4132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47030" cy="1301750"/>
            </a:xfrm>
            <a:custGeom>
              <a:avLst/>
              <a:gdLst/>
              <a:ahLst/>
              <a:cxnLst/>
              <a:rect r="r" b="b" t="t" l="l"/>
              <a:pathLst>
                <a:path h="130175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284859"/>
                  </a:lnTo>
                  <a:cubicBezTo>
                    <a:pt x="5447030" y="1294257"/>
                    <a:pt x="5439410" y="1301750"/>
                    <a:pt x="543013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430139" y="1267968"/>
                  </a:lnTo>
                  <a:lnTo>
                    <a:pt x="5430139" y="1284859"/>
                  </a:lnTo>
                  <a:lnTo>
                    <a:pt x="5413248" y="128485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035559" y="1962407"/>
            <a:ext cx="830075" cy="830075"/>
            <a:chOff x="0" y="0"/>
            <a:chExt cx="1106767" cy="11067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A1628">
                <a:alpha val="63922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048256" y="1975104"/>
            <a:ext cx="804672" cy="804672"/>
            <a:chOff x="0" y="0"/>
            <a:chExt cx="1072896" cy="10728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8368" y="2962656"/>
            <a:ext cx="3840480" cy="731520"/>
            <a:chOff x="0" y="0"/>
            <a:chExt cx="512064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Nettoyage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31520" y="3840480"/>
            <a:ext cx="3749040" cy="1188720"/>
            <a:chOff x="0" y="0"/>
            <a:chExt cx="4998720" cy="1584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Conversion des 5 colonnes dates → datetime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31520" y="5120640"/>
            <a:ext cx="3749040" cy="1188720"/>
            <a:chOff x="0" y="0"/>
            <a:chExt cx="4998720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Filtrage : delivered / canceled / unavailable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31520" y="6400800"/>
            <a:ext cx="3749040" cy="1188720"/>
            <a:chOff x="0" y="0"/>
            <a:chExt cx="4998720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Médiane → colonnes numériques manquantes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31520" y="7680960"/>
            <a:ext cx="3749040" cy="1188720"/>
            <a:chOff x="0" y="0"/>
            <a:chExt cx="499872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'unknown' → colonnes catégorielles manquantes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891021" y="1910077"/>
            <a:ext cx="4080253" cy="7701277"/>
            <a:chOff x="0" y="0"/>
            <a:chExt cx="5440337" cy="102683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3589" y="13589"/>
              <a:ext cx="5413248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40426" cy="10268458"/>
            </a:xfrm>
            <a:custGeom>
              <a:avLst/>
              <a:gdLst/>
              <a:ahLst/>
              <a:cxnLst/>
              <a:rect r="r" b="b" t="t" l="l"/>
              <a:pathLst>
                <a:path h="1026845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10254869"/>
                  </a:lnTo>
                  <a:cubicBezTo>
                    <a:pt x="5440426" y="10262362"/>
                    <a:pt x="5434330" y="10268458"/>
                    <a:pt x="5426837" y="10268458"/>
                  </a:cubicBezTo>
                  <a:lnTo>
                    <a:pt x="13589" y="10268458"/>
                  </a:lnTo>
                  <a:cubicBezTo>
                    <a:pt x="6096" y="10268458"/>
                    <a:pt x="0" y="10262362"/>
                    <a:pt x="0" y="102548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254869"/>
                  </a:lnTo>
                  <a:lnTo>
                    <a:pt x="13589" y="10254869"/>
                  </a:lnTo>
                  <a:lnTo>
                    <a:pt x="13589" y="10241280"/>
                  </a:lnTo>
                  <a:lnTo>
                    <a:pt x="5426837" y="10241280"/>
                  </a:lnTo>
                  <a:lnTo>
                    <a:pt x="5426837" y="10254869"/>
                  </a:lnTo>
                  <a:lnTo>
                    <a:pt x="5413248" y="1025486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88487" y="1907543"/>
            <a:ext cx="4085339" cy="976379"/>
            <a:chOff x="0" y="0"/>
            <a:chExt cx="5447119" cy="130183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4132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47030" cy="1301750"/>
            </a:xfrm>
            <a:custGeom>
              <a:avLst/>
              <a:gdLst/>
              <a:ahLst/>
              <a:cxnLst/>
              <a:rect r="r" b="b" t="t" l="l"/>
              <a:pathLst>
                <a:path h="130175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284859"/>
                  </a:lnTo>
                  <a:cubicBezTo>
                    <a:pt x="5447030" y="1294257"/>
                    <a:pt x="5439410" y="1301750"/>
                    <a:pt x="543013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430139" y="1267968"/>
                  </a:lnTo>
                  <a:lnTo>
                    <a:pt x="5430139" y="1284859"/>
                  </a:lnTo>
                  <a:lnTo>
                    <a:pt x="5413248" y="128485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388103" y="1962407"/>
            <a:ext cx="830075" cy="830075"/>
            <a:chOff x="0" y="0"/>
            <a:chExt cx="1106767" cy="110676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A1628">
                <a:alpha val="63922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400800" y="1975104"/>
            <a:ext cx="804672" cy="804672"/>
            <a:chOff x="0" y="0"/>
            <a:chExt cx="1072896" cy="10728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010912" y="2962656"/>
            <a:ext cx="3840480" cy="731520"/>
            <a:chOff x="0" y="0"/>
            <a:chExt cx="512064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84064" y="3840480"/>
            <a:ext cx="3749040" cy="1188720"/>
            <a:chOff x="0" y="0"/>
            <a:chExt cx="4998720" cy="1584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freight_ratio = total_freight / total_price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084064" y="5120640"/>
            <a:ext cx="3749040" cy="1188720"/>
            <a:chOff x="0" y="0"/>
            <a:chExt cx="4998720" cy="1584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price_per_item = total_price / item_count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084064" y="6400800"/>
            <a:ext cx="3749040" cy="1188720"/>
            <a:chOff x="0" y="0"/>
            <a:chExt cx="4998720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purchase_month (saisonnalité)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084064" y="7680960"/>
            <a:ext cx="3749040" cy="1188720"/>
            <a:chOff x="0" y="0"/>
            <a:chExt cx="4998720" cy="1584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purchase_day_of_week (comportement)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243565" y="1910077"/>
            <a:ext cx="4080253" cy="7701277"/>
            <a:chOff x="0" y="0"/>
            <a:chExt cx="5440337" cy="1026836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3589" y="13589"/>
              <a:ext cx="5413248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40426" cy="10268458"/>
            </a:xfrm>
            <a:custGeom>
              <a:avLst/>
              <a:gdLst/>
              <a:ahLst/>
              <a:cxnLst/>
              <a:rect r="r" b="b" t="t" l="l"/>
              <a:pathLst>
                <a:path h="1026845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10254869"/>
                  </a:lnTo>
                  <a:cubicBezTo>
                    <a:pt x="5440426" y="10262362"/>
                    <a:pt x="5434330" y="10268458"/>
                    <a:pt x="5426837" y="10268458"/>
                  </a:cubicBezTo>
                  <a:lnTo>
                    <a:pt x="13589" y="10268458"/>
                  </a:lnTo>
                  <a:cubicBezTo>
                    <a:pt x="6096" y="10268458"/>
                    <a:pt x="0" y="10262362"/>
                    <a:pt x="0" y="102548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254869"/>
                  </a:lnTo>
                  <a:lnTo>
                    <a:pt x="13589" y="10254869"/>
                  </a:lnTo>
                  <a:lnTo>
                    <a:pt x="13589" y="10241280"/>
                  </a:lnTo>
                  <a:lnTo>
                    <a:pt x="5426837" y="10241280"/>
                  </a:lnTo>
                  <a:lnTo>
                    <a:pt x="5426837" y="10254869"/>
                  </a:lnTo>
                  <a:lnTo>
                    <a:pt x="5413248" y="1025486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241031" y="1907543"/>
            <a:ext cx="4085339" cy="976379"/>
            <a:chOff x="0" y="0"/>
            <a:chExt cx="5447119" cy="130183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54132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47030" cy="1301750"/>
            </a:xfrm>
            <a:custGeom>
              <a:avLst/>
              <a:gdLst/>
              <a:ahLst/>
              <a:cxnLst/>
              <a:rect r="r" b="b" t="t" l="l"/>
              <a:pathLst>
                <a:path h="130175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284859"/>
                  </a:lnTo>
                  <a:cubicBezTo>
                    <a:pt x="5447030" y="1294257"/>
                    <a:pt x="5439410" y="1301750"/>
                    <a:pt x="543013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430139" y="1267968"/>
                  </a:lnTo>
                  <a:lnTo>
                    <a:pt x="5430139" y="1284859"/>
                  </a:lnTo>
                  <a:lnTo>
                    <a:pt x="5413248" y="128485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740647" y="1962407"/>
            <a:ext cx="830075" cy="830075"/>
            <a:chOff x="0" y="0"/>
            <a:chExt cx="1106767" cy="110676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A1628">
                <a:alpha val="6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753344" y="1975104"/>
            <a:ext cx="804672" cy="804672"/>
            <a:chOff x="0" y="0"/>
            <a:chExt cx="1072896" cy="10728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63456" y="2962656"/>
            <a:ext cx="3840480" cy="731520"/>
            <a:chOff x="0" y="0"/>
            <a:chExt cx="5120640" cy="9753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Encodage &amp; Cible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436608" y="3840480"/>
            <a:ext cx="3749040" cy="1188720"/>
            <a:chOff x="0" y="0"/>
            <a:chExt cx="4998720" cy="15849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LabelEncoder : payment_type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36608" y="5120640"/>
            <a:ext cx="3749040" cy="1188720"/>
            <a:chOff x="0" y="0"/>
            <a:chExt cx="4998720" cy="15849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LabelEncoder : customer_state (27 états)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36608" y="6400800"/>
            <a:ext cx="3749040" cy="1188720"/>
            <a:chOff x="0" y="0"/>
            <a:chExt cx="4998720" cy="15849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LabelEncoder : product_category (70+ catégories)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436608" y="7680960"/>
            <a:ext cx="3749040" cy="1188720"/>
            <a:chOff x="0" y="0"/>
            <a:chExt cx="4998720" cy="15849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Cible : is_return_refund_risk (0 ou 1)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596109" y="1910077"/>
            <a:ext cx="4080253" cy="7701277"/>
            <a:chOff x="0" y="0"/>
            <a:chExt cx="5440337" cy="1026836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3589" y="13589"/>
              <a:ext cx="5413248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440426" cy="10268458"/>
            </a:xfrm>
            <a:custGeom>
              <a:avLst/>
              <a:gdLst/>
              <a:ahLst/>
              <a:cxnLst/>
              <a:rect r="r" b="b" t="t" l="l"/>
              <a:pathLst>
                <a:path h="1026845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10254869"/>
                  </a:lnTo>
                  <a:cubicBezTo>
                    <a:pt x="5440426" y="10262362"/>
                    <a:pt x="5434330" y="10268458"/>
                    <a:pt x="5426837" y="10268458"/>
                  </a:cubicBezTo>
                  <a:lnTo>
                    <a:pt x="13589" y="10268458"/>
                  </a:lnTo>
                  <a:cubicBezTo>
                    <a:pt x="6096" y="10268458"/>
                    <a:pt x="0" y="10262362"/>
                    <a:pt x="0" y="102548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254869"/>
                  </a:lnTo>
                  <a:lnTo>
                    <a:pt x="13589" y="10254869"/>
                  </a:lnTo>
                  <a:lnTo>
                    <a:pt x="13589" y="10241280"/>
                  </a:lnTo>
                  <a:lnTo>
                    <a:pt x="5426837" y="10241280"/>
                  </a:lnTo>
                  <a:lnTo>
                    <a:pt x="5426837" y="10254869"/>
                  </a:lnTo>
                  <a:lnTo>
                    <a:pt x="5413248" y="1025486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593575" y="1907543"/>
            <a:ext cx="4085339" cy="976379"/>
            <a:chOff x="0" y="0"/>
            <a:chExt cx="5447119" cy="130183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54132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447030" cy="1301750"/>
            </a:xfrm>
            <a:custGeom>
              <a:avLst/>
              <a:gdLst/>
              <a:ahLst/>
              <a:cxnLst/>
              <a:rect r="r" b="b" t="t" l="l"/>
              <a:pathLst>
                <a:path h="130175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284859"/>
                  </a:lnTo>
                  <a:cubicBezTo>
                    <a:pt x="5447030" y="1294257"/>
                    <a:pt x="5439410" y="1301750"/>
                    <a:pt x="543013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430139" y="1267968"/>
                  </a:lnTo>
                  <a:lnTo>
                    <a:pt x="5430139" y="1284859"/>
                  </a:lnTo>
                  <a:lnTo>
                    <a:pt x="5413248" y="128485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093191" y="1962407"/>
            <a:ext cx="830075" cy="830075"/>
            <a:chOff x="0" y="0"/>
            <a:chExt cx="1106767" cy="110676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A1628">
                <a:alpha val="6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5105888" y="1975104"/>
            <a:ext cx="804672" cy="804672"/>
            <a:chOff x="0" y="0"/>
            <a:chExt cx="1072896" cy="10728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716000" y="2962656"/>
            <a:ext cx="3840480" cy="731520"/>
            <a:chOff x="0" y="0"/>
            <a:chExt cx="5120640" cy="9753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Split &amp; Scaling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789152" y="3840480"/>
            <a:ext cx="3749040" cy="1188720"/>
            <a:chOff x="0" y="0"/>
            <a:chExt cx="4998720" cy="15849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Train/Test 80/20 stratifié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789152" y="5120640"/>
            <a:ext cx="3749040" cy="1188720"/>
            <a:chOff x="0" y="0"/>
            <a:chExt cx="4998720" cy="15849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StandardScaler fit sur train uniquement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789152" y="6400800"/>
            <a:ext cx="3749040" cy="1188720"/>
            <a:chOff x="0" y="0"/>
            <a:chExt cx="4998720" cy="15849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Évite le data leakage sur le test set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789152" y="7680960"/>
            <a:ext cx="3749040" cy="1188720"/>
            <a:chOff x="0" y="0"/>
            <a:chExt cx="4998720" cy="15849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14 features finales sélectionnées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Modélisation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1133856"/>
            <a:ext cx="15727680" cy="512064"/>
            <a:chOff x="0" y="0"/>
            <a:chExt cx="209702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src/modeling.py — 4 classifieurs comparés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8477" y="1910077"/>
            <a:ext cx="4080253" cy="4226557"/>
            <a:chOff x="0" y="0"/>
            <a:chExt cx="5440337" cy="56354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3589" y="13589"/>
              <a:ext cx="5413248" cy="5608320"/>
            </a:xfrm>
            <a:custGeom>
              <a:avLst/>
              <a:gdLst/>
              <a:ahLst/>
              <a:cxnLst/>
              <a:rect r="r" b="b" t="t" l="l"/>
              <a:pathLst>
                <a:path h="56083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40426" cy="5635498"/>
            </a:xfrm>
            <a:custGeom>
              <a:avLst/>
              <a:gdLst/>
              <a:ahLst/>
              <a:cxnLst/>
              <a:rect r="r" b="b" t="t" l="l"/>
              <a:pathLst>
                <a:path h="563549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5621909"/>
                  </a:lnTo>
                  <a:cubicBezTo>
                    <a:pt x="5440426" y="5629402"/>
                    <a:pt x="5434330" y="5635498"/>
                    <a:pt x="5426837" y="5635498"/>
                  </a:cubicBezTo>
                  <a:lnTo>
                    <a:pt x="13589" y="5635498"/>
                  </a:lnTo>
                  <a:cubicBezTo>
                    <a:pt x="6096" y="5635498"/>
                    <a:pt x="0" y="5629402"/>
                    <a:pt x="0" y="5621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621909"/>
                  </a:lnTo>
                  <a:lnTo>
                    <a:pt x="13589" y="5621909"/>
                  </a:lnTo>
                  <a:lnTo>
                    <a:pt x="13589" y="5608320"/>
                  </a:lnTo>
                  <a:lnTo>
                    <a:pt x="5426837" y="5608320"/>
                  </a:lnTo>
                  <a:lnTo>
                    <a:pt x="5426837" y="5621909"/>
                  </a:lnTo>
                  <a:lnTo>
                    <a:pt x="5413248" y="562190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89255" y="2145287"/>
            <a:ext cx="1342139" cy="1342139"/>
            <a:chOff x="0" y="0"/>
            <a:chExt cx="1789519" cy="17895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901952" y="2157984"/>
            <a:ext cx="1316736" cy="1316736"/>
            <a:chOff x="0" y="0"/>
            <a:chExt cx="1755648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75564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8368" y="3621024"/>
            <a:ext cx="3840480" cy="1188720"/>
            <a:chOff x="0" y="0"/>
            <a:chExt cx="5120640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1206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Régression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Logistique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4944" y="4846320"/>
            <a:ext cx="3767328" cy="1133856"/>
            <a:chOff x="0" y="0"/>
            <a:chExt cx="5023104" cy="15118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231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40" r="0" b="-147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23104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 linéaire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 &amp; interprétable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91021" y="1910077"/>
            <a:ext cx="4080253" cy="4226557"/>
            <a:chOff x="0" y="0"/>
            <a:chExt cx="5440337" cy="563540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589" y="13589"/>
              <a:ext cx="5413248" cy="5608320"/>
            </a:xfrm>
            <a:custGeom>
              <a:avLst/>
              <a:gdLst/>
              <a:ahLst/>
              <a:cxnLst/>
              <a:rect r="r" b="b" t="t" l="l"/>
              <a:pathLst>
                <a:path h="56083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40426" cy="5635498"/>
            </a:xfrm>
            <a:custGeom>
              <a:avLst/>
              <a:gdLst/>
              <a:ahLst/>
              <a:cxnLst/>
              <a:rect r="r" b="b" t="t" l="l"/>
              <a:pathLst>
                <a:path h="563549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5621909"/>
                  </a:lnTo>
                  <a:cubicBezTo>
                    <a:pt x="5440426" y="5629402"/>
                    <a:pt x="5434330" y="5635498"/>
                    <a:pt x="5426837" y="5635498"/>
                  </a:cubicBezTo>
                  <a:lnTo>
                    <a:pt x="13589" y="5635498"/>
                  </a:lnTo>
                  <a:cubicBezTo>
                    <a:pt x="6096" y="5635498"/>
                    <a:pt x="0" y="5629402"/>
                    <a:pt x="0" y="5621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621909"/>
                  </a:lnTo>
                  <a:lnTo>
                    <a:pt x="13589" y="5621909"/>
                  </a:lnTo>
                  <a:lnTo>
                    <a:pt x="13589" y="5608320"/>
                  </a:lnTo>
                  <a:lnTo>
                    <a:pt x="5426837" y="5608320"/>
                  </a:lnTo>
                  <a:lnTo>
                    <a:pt x="5426837" y="5621909"/>
                  </a:lnTo>
                  <a:lnTo>
                    <a:pt x="5413248" y="562190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241799" y="2145287"/>
            <a:ext cx="1342139" cy="1342139"/>
            <a:chOff x="0" y="0"/>
            <a:chExt cx="1789519" cy="17895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254496" y="2157984"/>
            <a:ext cx="1316736" cy="1316736"/>
            <a:chOff x="0" y="0"/>
            <a:chExt cx="1755648" cy="17556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75564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010912" y="3621024"/>
            <a:ext cx="3840480" cy="1188720"/>
            <a:chOff x="0" y="0"/>
            <a:chExt cx="512064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1206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Arbre de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Décision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47488" y="4846320"/>
            <a:ext cx="3767328" cy="1133856"/>
            <a:chOff x="0" y="0"/>
            <a:chExt cx="5023104" cy="15118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231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40" r="0" b="-147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023104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Règles hiérarchiques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Interprétable visuellement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28325" y="1894837"/>
            <a:ext cx="4110733" cy="4257037"/>
            <a:chOff x="0" y="0"/>
            <a:chExt cx="5480977" cy="567604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33909" y="33909"/>
              <a:ext cx="5413248" cy="5608320"/>
            </a:xfrm>
            <a:custGeom>
              <a:avLst/>
              <a:gdLst/>
              <a:ahLst/>
              <a:cxnLst/>
              <a:rect r="r" b="b" t="t" l="l"/>
              <a:pathLst>
                <a:path h="56083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D2F1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1066" cy="5676138"/>
            </a:xfrm>
            <a:custGeom>
              <a:avLst/>
              <a:gdLst/>
              <a:ahLst/>
              <a:cxnLst/>
              <a:rect r="r" b="b" t="t" l="l"/>
              <a:pathLst>
                <a:path h="5676138" w="5481066">
                  <a:moveTo>
                    <a:pt x="33909" y="0"/>
                  </a:moveTo>
                  <a:lnTo>
                    <a:pt x="5447157" y="0"/>
                  </a:lnTo>
                  <a:cubicBezTo>
                    <a:pt x="5465826" y="0"/>
                    <a:pt x="5481066" y="15113"/>
                    <a:pt x="5481066" y="33909"/>
                  </a:cubicBezTo>
                  <a:lnTo>
                    <a:pt x="5481066" y="5642229"/>
                  </a:lnTo>
                  <a:cubicBezTo>
                    <a:pt x="5481066" y="5660898"/>
                    <a:pt x="5465953" y="5676138"/>
                    <a:pt x="5447157" y="5676138"/>
                  </a:cubicBezTo>
                  <a:lnTo>
                    <a:pt x="33909" y="5676138"/>
                  </a:lnTo>
                  <a:cubicBezTo>
                    <a:pt x="15240" y="5676138"/>
                    <a:pt x="0" y="5661025"/>
                    <a:pt x="0" y="564222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5642229"/>
                  </a:lnTo>
                  <a:lnTo>
                    <a:pt x="33909" y="5642229"/>
                  </a:lnTo>
                  <a:lnTo>
                    <a:pt x="33909" y="5608320"/>
                  </a:lnTo>
                  <a:lnTo>
                    <a:pt x="5447157" y="5608320"/>
                  </a:lnTo>
                  <a:lnTo>
                    <a:pt x="5447157" y="5642229"/>
                  </a:lnTo>
                  <a:lnTo>
                    <a:pt x="5413248" y="5642229"/>
                  </a:lnTo>
                  <a:lnTo>
                    <a:pt x="5413248" y="33909"/>
                  </a:lnTo>
                  <a:lnTo>
                    <a:pt x="5447157" y="33909"/>
                  </a:lnTo>
                  <a:lnTo>
                    <a:pt x="544715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241031" y="1907543"/>
            <a:ext cx="4085339" cy="135131"/>
            <a:chOff x="0" y="0"/>
            <a:chExt cx="5447119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5413248" cy="146304"/>
            </a:xfrm>
            <a:custGeom>
              <a:avLst/>
              <a:gdLst/>
              <a:ahLst/>
              <a:cxnLst/>
              <a:rect r="r" b="b" t="t" l="l"/>
              <a:pathLst>
                <a:path h="14630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47030" cy="180088"/>
            </a:xfrm>
            <a:custGeom>
              <a:avLst/>
              <a:gdLst/>
              <a:ahLst/>
              <a:cxnLst/>
              <a:rect r="r" b="b" t="t" l="l"/>
              <a:pathLst>
                <a:path h="180088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63195"/>
                  </a:lnTo>
                  <a:cubicBezTo>
                    <a:pt x="5447030" y="172593"/>
                    <a:pt x="5439410" y="180086"/>
                    <a:pt x="5430139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430139" y="146304"/>
                  </a:lnTo>
                  <a:lnTo>
                    <a:pt x="5430139" y="163195"/>
                  </a:lnTo>
                  <a:lnTo>
                    <a:pt x="5413248" y="163195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594343" y="2145287"/>
            <a:ext cx="1342139" cy="1342139"/>
            <a:chOff x="0" y="0"/>
            <a:chExt cx="1789519" cy="17895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607040" y="2157984"/>
            <a:ext cx="1316736" cy="1316736"/>
            <a:chOff x="0" y="0"/>
            <a:chExt cx="1755648" cy="17556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75564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63456" y="3621024"/>
            <a:ext cx="3840480" cy="1188720"/>
            <a:chOff x="0" y="0"/>
            <a:chExt cx="5120640" cy="1584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1206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Forest 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00032" y="4846320"/>
            <a:ext cx="3767328" cy="1133856"/>
            <a:chOff x="0" y="0"/>
            <a:chExt cx="5023104" cy="15118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0231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40" r="0" b="-1474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023104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D4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Ensemble de 100 arbres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D4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Robuste &amp; précis — SÉLECTIONNÉ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596109" y="1910077"/>
            <a:ext cx="4080253" cy="4226557"/>
            <a:chOff x="0" y="0"/>
            <a:chExt cx="5440337" cy="563540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3589" y="13589"/>
              <a:ext cx="5413248" cy="5608320"/>
            </a:xfrm>
            <a:custGeom>
              <a:avLst/>
              <a:gdLst/>
              <a:ahLst/>
              <a:cxnLst/>
              <a:rect r="r" b="b" t="t" l="l"/>
              <a:pathLst>
                <a:path h="56083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440426" cy="5635498"/>
            </a:xfrm>
            <a:custGeom>
              <a:avLst/>
              <a:gdLst/>
              <a:ahLst/>
              <a:cxnLst/>
              <a:rect r="r" b="b" t="t" l="l"/>
              <a:pathLst>
                <a:path h="563549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5621909"/>
                  </a:lnTo>
                  <a:cubicBezTo>
                    <a:pt x="5440426" y="5629402"/>
                    <a:pt x="5434330" y="5635498"/>
                    <a:pt x="5426837" y="5635498"/>
                  </a:cubicBezTo>
                  <a:lnTo>
                    <a:pt x="13589" y="5635498"/>
                  </a:lnTo>
                  <a:cubicBezTo>
                    <a:pt x="6096" y="5635498"/>
                    <a:pt x="0" y="5629402"/>
                    <a:pt x="0" y="5621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621909"/>
                  </a:lnTo>
                  <a:lnTo>
                    <a:pt x="13589" y="5621909"/>
                  </a:lnTo>
                  <a:lnTo>
                    <a:pt x="13589" y="5608320"/>
                  </a:lnTo>
                  <a:lnTo>
                    <a:pt x="5426837" y="5608320"/>
                  </a:lnTo>
                  <a:lnTo>
                    <a:pt x="5426837" y="5621909"/>
                  </a:lnTo>
                  <a:lnTo>
                    <a:pt x="5413248" y="562190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946887" y="2145287"/>
            <a:ext cx="1342139" cy="1342139"/>
            <a:chOff x="0" y="0"/>
            <a:chExt cx="1789519" cy="178951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959584" y="2157984"/>
            <a:ext cx="1316736" cy="1316736"/>
            <a:chOff x="0" y="0"/>
            <a:chExt cx="1755648" cy="17556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75564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716000" y="3621024"/>
            <a:ext cx="3840480" cy="1188720"/>
            <a:chOff x="0" y="0"/>
            <a:chExt cx="5120640" cy="15849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1206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XGBoost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752576" y="4846320"/>
            <a:ext cx="3767328" cy="1133856"/>
            <a:chOff x="0" y="0"/>
            <a:chExt cx="5023104" cy="15118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0231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40" r="0" b="-1474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023104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Gradient Boosting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Haute performance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30555" y="6391275"/>
            <a:ext cx="17026890" cy="3219450"/>
            <a:chOff x="0" y="0"/>
            <a:chExt cx="22702520" cy="4292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2700" y="12700"/>
              <a:ext cx="226771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702520" cy="4292600"/>
            </a:xfrm>
            <a:custGeom>
              <a:avLst/>
              <a:gdLst/>
              <a:ahLst/>
              <a:cxnLst/>
              <a:rect r="r" b="b" t="t" l="l"/>
              <a:pathLst>
                <a:path h="4292600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4279900"/>
                  </a:lnTo>
                  <a:cubicBezTo>
                    <a:pt x="22702520" y="4286885"/>
                    <a:pt x="22696805" y="4292600"/>
                    <a:pt x="22689820" y="4292600"/>
                  </a:cubicBezTo>
                  <a:lnTo>
                    <a:pt x="12700" y="4292600"/>
                  </a:lnTo>
                  <a:cubicBezTo>
                    <a:pt x="5715" y="4292600"/>
                    <a:pt x="0" y="4286885"/>
                    <a:pt x="0" y="4279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279900"/>
                  </a:lnTo>
                  <a:lnTo>
                    <a:pt x="12700" y="4279900"/>
                  </a:lnTo>
                  <a:lnTo>
                    <a:pt x="12700" y="4267200"/>
                  </a:lnTo>
                  <a:lnTo>
                    <a:pt x="22689820" y="4267200"/>
                  </a:lnTo>
                  <a:lnTo>
                    <a:pt x="22689820" y="4279900"/>
                  </a:lnTo>
                  <a:lnTo>
                    <a:pt x="22677120" y="4279900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14400" y="6492240"/>
            <a:ext cx="16459200" cy="694944"/>
            <a:chOff x="0" y="0"/>
            <a:chExt cx="21945600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1945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Protocole d'entraînement (src/preprocessing.py)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14400" y="7260336"/>
            <a:ext cx="365760" cy="694944"/>
            <a:chOff x="0" y="0"/>
            <a:chExt cx="48768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t="0" r="-193776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487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88720" y="7260336"/>
            <a:ext cx="3108960" cy="694944"/>
            <a:chOff x="0" y="0"/>
            <a:chExt cx="414528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145280" cy="926592"/>
            </a:xfrm>
            <a:custGeom>
              <a:avLst/>
              <a:gdLst/>
              <a:ahLst/>
              <a:cxnLst/>
              <a:rect r="r" b="b" t="t" l="l"/>
              <a:pathLst>
                <a:path h="92659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69" r="0" b="-3716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145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Split stratifié 80/20 : 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297680" y="7260336"/>
            <a:ext cx="5303520" cy="694944"/>
            <a:chOff x="0" y="0"/>
            <a:chExt cx="707136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stratify=y garantit la proportion de classes dans chaque ensemble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14400" y="8266176"/>
            <a:ext cx="365760" cy="694944"/>
            <a:chOff x="0" y="0"/>
            <a:chExt cx="487680" cy="9265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768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t="0" r="-193776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487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88720" y="8266176"/>
            <a:ext cx="3108960" cy="694944"/>
            <a:chOff x="0" y="0"/>
            <a:chExt cx="4145280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145280" cy="926592"/>
            </a:xfrm>
            <a:custGeom>
              <a:avLst/>
              <a:gdLst/>
              <a:ahLst/>
              <a:cxnLst/>
              <a:rect r="r" b="b" t="t" l="l"/>
              <a:pathLst>
                <a:path h="92659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69" r="0" b="-3716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145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StandardScaler : 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4297680" y="8266176"/>
            <a:ext cx="5303520" cy="694944"/>
            <a:chOff x="0" y="0"/>
            <a:chExt cx="7071360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fit_transform(X_train) · transform(X_test) → évite le data leakage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601200" y="7260336"/>
            <a:ext cx="365760" cy="694944"/>
            <a:chOff x="0" y="0"/>
            <a:chExt cx="487680" cy="92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8768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t="0" r="-193776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487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875520" y="7260336"/>
            <a:ext cx="3108960" cy="694944"/>
            <a:chOff x="0" y="0"/>
            <a:chExt cx="4145280" cy="9265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145280" cy="926592"/>
            </a:xfrm>
            <a:custGeom>
              <a:avLst/>
              <a:gdLst/>
              <a:ahLst/>
              <a:cxnLst/>
              <a:rect r="r" b="b" t="t" l="l"/>
              <a:pathLst>
                <a:path h="92659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69" r="0" b="-3716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145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Métriques cibles : 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710160" y="7260336"/>
            <a:ext cx="5303520" cy="694944"/>
            <a:chOff x="0" y="0"/>
            <a:chExt cx="7071360" cy="9265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 · F1-Score (weighted) · AUC-ROC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601200" y="8266176"/>
            <a:ext cx="365760" cy="694944"/>
            <a:chOff x="0" y="0"/>
            <a:chExt cx="487680" cy="9265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8768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t="0" r="-193776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487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875520" y="8266176"/>
            <a:ext cx="3108960" cy="694944"/>
            <a:chOff x="0" y="0"/>
            <a:chExt cx="4145280" cy="9265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145280" cy="926592"/>
            </a:xfrm>
            <a:custGeom>
              <a:avLst/>
              <a:gdLst/>
              <a:ahLst/>
              <a:cxnLst/>
              <a:rect r="r" b="b" t="t" l="l"/>
              <a:pathLst>
                <a:path h="92659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69" r="0" b="-3716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4145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evaluate_model() : 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710160" y="8266176"/>
            <a:ext cx="5303520" cy="694944"/>
            <a:chOff x="0" y="0"/>
            <a:chExt cx="7071360" cy="92659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src/evaluation.py : rapport complet + confusion matrix + ROC curves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Résultats — Comparaison des Modèles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1133856"/>
            <a:ext cx="15727680" cy="512064"/>
            <a:chOff x="0" y="0"/>
            <a:chExt cx="209702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src/evaluation.py · compare_models()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27383" y="1962407"/>
            <a:ext cx="15570203" cy="976379"/>
            <a:chOff x="0" y="0"/>
            <a:chExt cx="20760271" cy="1301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0726399" cy="1267968"/>
            </a:xfrm>
            <a:custGeom>
              <a:avLst/>
              <a:gdLst/>
              <a:ahLst/>
              <a:cxnLst/>
              <a:rect r="r" b="b" t="t" l="l"/>
              <a:pathLst>
                <a:path h="1267968" w="20726399">
                  <a:moveTo>
                    <a:pt x="0" y="0"/>
                  </a:moveTo>
                  <a:lnTo>
                    <a:pt x="20726399" y="0"/>
                  </a:lnTo>
                  <a:lnTo>
                    <a:pt x="20726399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60182" cy="1301750"/>
            </a:xfrm>
            <a:custGeom>
              <a:avLst/>
              <a:gdLst/>
              <a:ahLst/>
              <a:cxnLst/>
              <a:rect r="r" b="b" t="t" l="l"/>
              <a:pathLst>
                <a:path h="1301750" w="20760182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1284859"/>
                  </a:lnTo>
                  <a:cubicBezTo>
                    <a:pt x="20760182" y="1294257"/>
                    <a:pt x="20752563" y="1301750"/>
                    <a:pt x="20743290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20743290" y="1267968"/>
                  </a:lnTo>
                  <a:lnTo>
                    <a:pt x="20743290" y="1284859"/>
                  </a:lnTo>
                  <a:lnTo>
                    <a:pt x="20726400" y="1284859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1975104"/>
            <a:ext cx="5303520" cy="950976"/>
            <a:chOff x="0" y="0"/>
            <a:chExt cx="7071360" cy="1267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0713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43600" y="1975104"/>
            <a:ext cx="3383280" cy="950976"/>
            <a:chOff x="0" y="0"/>
            <a:chExt cx="4511040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11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21" r="0" b="-193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51104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26880" y="1975104"/>
            <a:ext cx="3383280" cy="950976"/>
            <a:chOff x="0" y="0"/>
            <a:chExt cx="4511040" cy="12679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11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21" r="0" b="-1932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51104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F1-Score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710160" y="1975104"/>
            <a:ext cx="3383280" cy="950976"/>
            <a:chOff x="0" y="0"/>
            <a:chExt cx="4511040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11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21" r="0" b="-1932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51104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AUC-ROC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4840" y="2910840"/>
            <a:ext cx="15575280" cy="1164336"/>
            <a:chOff x="0" y="0"/>
            <a:chExt cx="20767040" cy="1552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20320" y="20320"/>
              <a:ext cx="207264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2F1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767039" cy="1552448"/>
            </a:xfrm>
            <a:custGeom>
              <a:avLst/>
              <a:gdLst/>
              <a:ahLst/>
              <a:cxnLst/>
              <a:rect r="r" b="b" t="t" l="l"/>
              <a:pathLst>
                <a:path h="1552448" w="20767039">
                  <a:moveTo>
                    <a:pt x="20320" y="0"/>
                  </a:moveTo>
                  <a:lnTo>
                    <a:pt x="20746720" y="0"/>
                  </a:lnTo>
                  <a:cubicBezTo>
                    <a:pt x="20757896" y="0"/>
                    <a:pt x="20767039" y="9144"/>
                    <a:pt x="20767039" y="20320"/>
                  </a:cubicBezTo>
                  <a:lnTo>
                    <a:pt x="20767039" y="1532128"/>
                  </a:lnTo>
                  <a:cubicBezTo>
                    <a:pt x="20767039" y="1543304"/>
                    <a:pt x="20757896" y="1552448"/>
                    <a:pt x="20746720" y="1552448"/>
                  </a:cubicBezTo>
                  <a:lnTo>
                    <a:pt x="20320" y="1552448"/>
                  </a:lnTo>
                  <a:cubicBezTo>
                    <a:pt x="9144" y="1552448"/>
                    <a:pt x="0" y="1543304"/>
                    <a:pt x="0" y="1532128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1532128"/>
                  </a:lnTo>
                  <a:lnTo>
                    <a:pt x="20320" y="1532128"/>
                  </a:lnTo>
                  <a:lnTo>
                    <a:pt x="20320" y="1511808"/>
                  </a:lnTo>
                  <a:lnTo>
                    <a:pt x="20746720" y="1511808"/>
                  </a:lnTo>
                  <a:lnTo>
                    <a:pt x="20746720" y="1532128"/>
                  </a:lnTo>
                  <a:lnTo>
                    <a:pt x="20726400" y="1532128"/>
                  </a:lnTo>
                  <a:lnTo>
                    <a:pt x="20726400" y="20320"/>
                  </a:lnTo>
                  <a:lnTo>
                    <a:pt x="20746720" y="20320"/>
                  </a:lnTo>
                  <a:lnTo>
                    <a:pt x="2074672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59536" y="2926080"/>
            <a:ext cx="5084064" cy="1133856"/>
            <a:chOff x="0" y="0"/>
            <a:chExt cx="6778752" cy="1511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78752" cy="1511808"/>
            </a:xfrm>
            <a:custGeom>
              <a:avLst/>
              <a:gdLst/>
              <a:ahLst/>
              <a:cxnLst/>
              <a:rect r="r" b="b" t="t" l="l"/>
              <a:pathLst>
                <a:path h="151180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68" r="0" b="-373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778752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★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113783" y="3498599"/>
            <a:ext cx="2768603" cy="244859"/>
            <a:chOff x="0" y="0"/>
            <a:chExt cx="3691471" cy="3264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365760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91382" cy="326392"/>
            </a:xfrm>
            <a:custGeom>
              <a:avLst/>
              <a:gdLst/>
              <a:ahLst/>
              <a:cxnLst/>
              <a:rect r="r" b="b" t="t" l="l"/>
              <a:pathLst>
                <a:path h="32639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09499"/>
                  </a:lnTo>
                  <a:cubicBezTo>
                    <a:pt x="3691382" y="318897"/>
                    <a:pt x="3683762" y="326390"/>
                    <a:pt x="36744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674491" y="292608"/>
                  </a:lnTo>
                  <a:lnTo>
                    <a:pt x="3674491" y="309499"/>
                  </a:lnTo>
                  <a:lnTo>
                    <a:pt x="3657600" y="309499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943600" y="2999232"/>
            <a:ext cx="3383280" cy="493776"/>
            <a:chOff x="0" y="0"/>
            <a:chExt cx="4511040" cy="6583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99.55%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97063" y="3498599"/>
            <a:ext cx="2768603" cy="244859"/>
            <a:chOff x="0" y="0"/>
            <a:chExt cx="3691471" cy="3264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365760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91382" cy="326392"/>
            </a:xfrm>
            <a:custGeom>
              <a:avLst/>
              <a:gdLst/>
              <a:ahLst/>
              <a:cxnLst/>
              <a:rect r="r" b="b" t="t" l="l"/>
              <a:pathLst>
                <a:path h="32639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09499"/>
                  </a:lnTo>
                  <a:cubicBezTo>
                    <a:pt x="3691382" y="318897"/>
                    <a:pt x="3683762" y="326390"/>
                    <a:pt x="36744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674491" y="292608"/>
                  </a:lnTo>
                  <a:lnTo>
                    <a:pt x="3674491" y="309499"/>
                  </a:lnTo>
                  <a:lnTo>
                    <a:pt x="3657600" y="309499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26880" y="2999232"/>
            <a:ext cx="3383280" cy="493776"/>
            <a:chOff x="0" y="0"/>
            <a:chExt cx="4511040" cy="6583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99.51%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880343" y="3498599"/>
            <a:ext cx="2768603" cy="244859"/>
            <a:chOff x="0" y="0"/>
            <a:chExt cx="3691471" cy="32647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365760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91382" cy="326392"/>
            </a:xfrm>
            <a:custGeom>
              <a:avLst/>
              <a:gdLst/>
              <a:ahLst/>
              <a:cxnLst/>
              <a:rect r="r" b="b" t="t" l="l"/>
              <a:pathLst>
                <a:path h="32639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09499"/>
                  </a:lnTo>
                  <a:cubicBezTo>
                    <a:pt x="3691382" y="318897"/>
                    <a:pt x="3683762" y="326390"/>
                    <a:pt x="36744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674491" y="292608"/>
                  </a:lnTo>
                  <a:lnTo>
                    <a:pt x="3674491" y="309499"/>
                  </a:lnTo>
                  <a:lnTo>
                    <a:pt x="3657600" y="309499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710160" y="2999232"/>
            <a:ext cx="3383280" cy="493776"/>
            <a:chOff x="0" y="0"/>
            <a:chExt cx="4511040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0.8939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3727" y="4053583"/>
            <a:ext cx="15557497" cy="1146553"/>
            <a:chOff x="0" y="0"/>
            <a:chExt cx="20743329" cy="152873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509" y="8509"/>
              <a:ext cx="20726401" cy="1511808"/>
            </a:xfrm>
            <a:custGeom>
              <a:avLst/>
              <a:gdLst/>
              <a:ahLst/>
              <a:cxnLst/>
              <a:rect r="r" b="b" t="t" l="l"/>
              <a:pathLst>
                <a:path h="1511808" w="20726401">
                  <a:moveTo>
                    <a:pt x="0" y="0"/>
                  </a:moveTo>
                  <a:lnTo>
                    <a:pt x="20726401" y="0"/>
                  </a:lnTo>
                  <a:lnTo>
                    <a:pt x="2072640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743418" cy="1528826"/>
            </a:xfrm>
            <a:custGeom>
              <a:avLst/>
              <a:gdLst/>
              <a:ahLst/>
              <a:cxnLst/>
              <a:rect r="r" b="b" t="t" l="l"/>
              <a:pathLst>
                <a:path h="1528826" w="20743418">
                  <a:moveTo>
                    <a:pt x="8509" y="0"/>
                  </a:moveTo>
                  <a:lnTo>
                    <a:pt x="20734910" y="0"/>
                  </a:lnTo>
                  <a:cubicBezTo>
                    <a:pt x="20739608" y="0"/>
                    <a:pt x="20743418" y="3810"/>
                    <a:pt x="20743418" y="8509"/>
                  </a:cubicBezTo>
                  <a:lnTo>
                    <a:pt x="20743418" y="1520317"/>
                  </a:lnTo>
                  <a:cubicBezTo>
                    <a:pt x="20743418" y="1525016"/>
                    <a:pt x="20739608" y="1528826"/>
                    <a:pt x="20734910" y="1528826"/>
                  </a:cubicBezTo>
                  <a:lnTo>
                    <a:pt x="8509" y="1528826"/>
                  </a:lnTo>
                  <a:cubicBezTo>
                    <a:pt x="3810" y="1528826"/>
                    <a:pt x="0" y="1525016"/>
                    <a:pt x="0" y="15203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20317"/>
                  </a:lnTo>
                  <a:lnTo>
                    <a:pt x="8509" y="1520317"/>
                  </a:lnTo>
                  <a:lnTo>
                    <a:pt x="8509" y="1511808"/>
                  </a:lnTo>
                  <a:lnTo>
                    <a:pt x="20734910" y="1511808"/>
                  </a:lnTo>
                  <a:lnTo>
                    <a:pt x="20734910" y="1520317"/>
                  </a:lnTo>
                  <a:lnTo>
                    <a:pt x="20726400" y="1520317"/>
                  </a:lnTo>
                  <a:lnTo>
                    <a:pt x="20726400" y="8509"/>
                  </a:lnTo>
                  <a:lnTo>
                    <a:pt x="20734910" y="8509"/>
                  </a:lnTo>
                  <a:lnTo>
                    <a:pt x="207349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59536" y="4059936"/>
            <a:ext cx="5084064" cy="1133856"/>
            <a:chOff x="0" y="0"/>
            <a:chExt cx="6778752" cy="15118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78752" cy="1511808"/>
            </a:xfrm>
            <a:custGeom>
              <a:avLst/>
              <a:gdLst/>
              <a:ahLst/>
              <a:cxnLst/>
              <a:rect r="r" b="b" t="t" l="l"/>
              <a:pathLst>
                <a:path h="151180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68" r="0" b="-3736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778752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13783" y="4632455"/>
            <a:ext cx="2765565" cy="244859"/>
            <a:chOff x="0" y="0"/>
            <a:chExt cx="3687420" cy="3264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3653663" cy="292608"/>
            </a:xfrm>
            <a:custGeom>
              <a:avLst/>
              <a:gdLst/>
              <a:ahLst/>
              <a:cxnLst/>
              <a:rect r="r" b="b" t="t" l="l"/>
              <a:pathLst>
                <a:path h="292608" w="3653663">
                  <a:moveTo>
                    <a:pt x="0" y="0"/>
                  </a:moveTo>
                  <a:lnTo>
                    <a:pt x="3653663" y="0"/>
                  </a:lnTo>
                  <a:lnTo>
                    <a:pt x="3653663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87445" cy="326392"/>
            </a:xfrm>
            <a:custGeom>
              <a:avLst/>
              <a:gdLst/>
              <a:ahLst/>
              <a:cxnLst/>
              <a:rect r="r" b="b" t="t" l="l"/>
              <a:pathLst>
                <a:path h="326392" w="3687445">
                  <a:moveTo>
                    <a:pt x="16891" y="0"/>
                  </a:moveTo>
                  <a:lnTo>
                    <a:pt x="3670554" y="0"/>
                  </a:lnTo>
                  <a:cubicBezTo>
                    <a:pt x="3679952" y="0"/>
                    <a:pt x="3687445" y="7620"/>
                    <a:pt x="3687445" y="16891"/>
                  </a:cubicBezTo>
                  <a:lnTo>
                    <a:pt x="3687445" y="309499"/>
                  </a:lnTo>
                  <a:cubicBezTo>
                    <a:pt x="3687445" y="318897"/>
                    <a:pt x="3679825" y="326390"/>
                    <a:pt x="3670554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670554" y="292608"/>
                  </a:lnTo>
                  <a:lnTo>
                    <a:pt x="3670554" y="309499"/>
                  </a:lnTo>
                  <a:lnTo>
                    <a:pt x="3653663" y="309499"/>
                  </a:lnTo>
                  <a:lnTo>
                    <a:pt x="3653663" y="16891"/>
                  </a:lnTo>
                  <a:lnTo>
                    <a:pt x="3670554" y="16891"/>
                  </a:lnTo>
                  <a:lnTo>
                    <a:pt x="367055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943600" y="4133088"/>
            <a:ext cx="3383280" cy="493776"/>
            <a:chOff x="0" y="0"/>
            <a:chExt cx="4511040" cy="6583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99.44%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97063" y="4632455"/>
            <a:ext cx="2765565" cy="244859"/>
            <a:chOff x="0" y="0"/>
            <a:chExt cx="3687420" cy="32647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3653663" cy="292608"/>
            </a:xfrm>
            <a:custGeom>
              <a:avLst/>
              <a:gdLst/>
              <a:ahLst/>
              <a:cxnLst/>
              <a:rect r="r" b="b" t="t" l="l"/>
              <a:pathLst>
                <a:path h="292608" w="3653663">
                  <a:moveTo>
                    <a:pt x="0" y="0"/>
                  </a:moveTo>
                  <a:lnTo>
                    <a:pt x="3653663" y="0"/>
                  </a:lnTo>
                  <a:lnTo>
                    <a:pt x="3653663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87445" cy="326392"/>
            </a:xfrm>
            <a:custGeom>
              <a:avLst/>
              <a:gdLst/>
              <a:ahLst/>
              <a:cxnLst/>
              <a:rect r="r" b="b" t="t" l="l"/>
              <a:pathLst>
                <a:path h="326392" w="3687445">
                  <a:moveTo>
                    <a:pt x="16891" y="0"/>
                  </a:moveTo>
                  <a:lnTo>
                    <a:pt x="3670554" y="0"/>
                  </a:lnTo>
                  <a:cubicBezTo>
                    <a:pt x="3679952" y="0"/>
                    <a:pt x="3687445" y="7620"/>
                    <a:pt x="3687445" y="16891"/>
                  </a:cubicBezTo>
                  <a:lnTo>
                    <a:pt x="3687445" y="309499"/>
                  </a:lnTo>
                  <a:cubicBezTo>
                    <a:pt x="3687445" y="318897"/>
                    <a:pt x="3679825" y="326390"/>
                    <a:pt x="3670554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670554" y="292608"/>
                  </a:lnTo>
                  <a:lnTo>
                    <a:pt x="3670554" y="309499"/>
                  </a:lnTo>
                  <a:lnTo>
                    <a:pt x="3653663" y="309499"/>
                  </a:lnTo>
                  <a:lnTo>
                    <a:pt x="3653663" y="16891"/>
                  </a:lnTo>
                  <a:lnTo>
                    <a:pt x="3670554" y="16891"/>
                  </a:lnTo>
                  <a:lnTo>
                    <a:pt x="367055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326880" y="4133088"/>
            <a:ext cx="3383280" cy="493776"/>
            <a:chOff x="0" y="0"/>
            <a:chExt cx="4511040" cy="6583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99.40%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880343" y="4632455"/>
            <a:ext cx="2732999" cy="244859"/>
            <a:chOff x="0" y="0"/>
            <a:chExt cx="3643998" cy="32647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3610229" cy="292608"/>
            </a:xfrm>
            <a:custGeom>
              <a:avLst/>
              <a:gdLst/>
              <a:ahLst/>
              <a:cxnLst/>
              <a:rect r="r" b="b" t="t" l="l"/>
              <a:pathLst>
                <a:path h="292608" w="3610229">
                  <a:moveTo>
                    <a:pt x="0" y="0"/>
                  </a:moveTo>
                  <a:lnTo>
                    <a:pt x="3610229" y="0"/>
                  </a:lnTo>
                  <a:lnTo>
                    <a:pt x="3610229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44011" cy="326392"/>
            </a:xfrm>
            <a:custGeom>
              <a:avLst/>
              <a:gdLst/>
              <a:ahLst/>
              <a:cxnLst/>
              <a:rect r="r" b="b" t="t" l="l"/>
              <a:pathLst>
                <a:path h="326392" w="3644011">
                  <a:moveTo>
                    <a:pt x="16891" y="0"/>
                  </a:moveTo>
                  <a:lnTo>
                    <a:pt x="3627120" y="0"/>
                  </a:lnTo>
                  <a:cubicBezTo>
                    <a:pt x="3636518" y="0"/>
                    <a:pt x="3644011" y="7620"/>
                    <a:pt x="3644011" y="16891"/>
                  </a:cubicBezTo>
                  <a:lnTo>
                    <a:pt x="3644011" y="309499"/>
                  </a:lnTo>
                  <a:cubicBezTo>
                    <a:pt x="3644011" y="318897"/>
                    <a:pt x="3636391" y="326390"/>
                    <a:pt x="3627120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627120" y="292608"/>
                  </a:lnTo>
                  <a:lnTo>
                    <a:pt x="3627120" y="309499"/>
                  </a:lnTo>
                  <a:lnTo>
                    <a:pt x="3610229" y="309499"/>
                  </a:lnTo>
                  <a:lnTo>
                    <a:pt x="3610229" y="16891"/>
                  </a:lnTo>
                  <a:lnTo>
                    <a:pt x="3627120" y="16891"/>
                  </a:lnTo>
                  <a:lnTo>
                    <a:pt x="362712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710160" y="4133088"/>
            <a:ext cx="3383280" cy="493776"/>
            <a:chOff x="0" y="0"/>
            <a:chExt cx="4511040" cy="6583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0.8823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33727" y="5187439"/>
            <a:ext cx="15557497" cy="1146553"/>
            <a:chOff x="0" y="0"/>
            <a:chExt cx="20743329" cy="152873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8509" y="8509"/>
              <a:ext cx="20726401" cy="1511808"/>
            </a:xfrm>
            <a:custGeom>
              <a:avLst/>
              <a:gdLst/>
              <a:ahLst/>
              <a:cxnLst/>
              <a:rect r="r" b="b" t="t" l="l"/>
              <a:pathLst>
                <a:path h="1511808" w="20726401">
                  <a:moveTo>
                    <a:pt x="0" y="0"/>
                  </a:moveTo>
                  <a:lnTo>
                    <a:pt x="20726401" y="0"/>
                  </a:lnTo>
                  <a:lnTo>
                    <a:pt x="2072640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743418" cy="1528826"/>
            </a:xfrm>
            <a:custGeom>
              <a:avLst/>
              <a:gdLst/>
              <a:ahLst/>
              <a:cxnLst/>
              <a:rect r="r" b="b" t="t" l="l"/>
              <a:pathLst>
                <a:path h="1528826" w="20743418">
                  <a:moveTo>
                    <a:pt x="8509" y="0"/>
                  </a:moveTo>
                  <a:lnTo>
                    <a:pt x="20734910" y="0"/>
                  </a:lnTo>
                  <a:cubicBezTo>
                    <a:pt x="20739608" y="0"/>
                    <a:pt x="20743418" y="3810"/>
                    <a:pt x="20743418" y="8509"/>
                  </a:cubicBezTo>
                  <a:lnTo>
                    <a:pt x="20743418" y="1520317"/>
                  </a:lnTo>
                  <a:cubicBezTo>
                    <a:pt x="20743418" y="1525016"/>
                    <a:pt x="20739608" y="1528826"/>
                    <a:pt x="20734910" y="1528826"/>
                  </a:cubicBezTo>
                  <a:lnTo>
                    <a:pt x="8509" y="1528826"/>
                  </a:lnTo>
                  <a:cubicBezTo>
                    <a:pt x="3810" y="1528826"/>
                    <a:pt x="0" y="1525016"/>
                    <a:pt x="0" y="15203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20317"/>
                  </a:lnTo>
                  <a:lnTo>
                    <a:pt x="8509" y="1520317"/>
                  </a:lnTo>
                  <a:lnTo>
                    <a:pt x="8509" y="1511808"/>
                  </a:lnTo>
                  <a:lnTo>
                    <a:pt x="20734910" y="1511808"/>
                  </a:lnTo>
                  <a:lnTo>
                    <a:pt x="20734910" y="1520317"/>
                  </a:lnTo>
                  <a:lnTo>
                    <a:pt x="20726400" y="1520317"/>
                  </a:lnTo>
                  <a:lnTo>
                    <a:pt x="20726400" y="8509"/>
                  </a:lnTo>
                  <a:lnTo>
                    <a:pt x="20734910" y="8509"/>
                  </a:lnTo>
                  <a:lnTo>
                    <a:pt x="207349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59536" y="5193792"/>
            <a:ext cx="5084064" cy="1133856"/>
            <a:chOff x="0" y="0"/>
            <a:chExt cx="6778752" cy="151180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778752" cy="1511808"/>
            </a:xfrm>
            <a:custGeom>
              <a:avLst/>
              <a:gdLst/>
              <a:ahLst/>
              <a:cxnLst/>
              <a:rect r="r" b="b" t="t" l="l"/>
              <a:pathLst>
                <a:path h="151180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68" r="0" b="-3736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778752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Decision Tree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113783" y="5766311"/>
            <a:ext cx="2573779" cy="244859"/>
            <a:chOff x="0" y="0"/>
            <a:chExt cx="3431705" cy="32647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3397885" cy="292608"/>
            </a:xfrm>
            <a:custGeom>
              <a:avLst/>
              <a:gdLst/>
              <a:ahLst/>
              <a:cxnLst/>
              <a:rect r="r" b="b" t="t" l="l"/>
              <a:pathLst>
                <a:path h="292608" w="3397885">
                  <a:moveTo>
                    <a:pt x="0" y="0"/>
                  </a:moveTo>
                  <a:lnTo>
                    <a:pt x="3397885" y="0"/>
                  </a:lnTo>
                  <a:lnTo>
                    <a:pt x="3397885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431667" cy="326392"/>
            </a:xfrm>
            <a:custGeom>
              <a:avLst/>
              <a:gdLst/>
              <a:ahLst/>
              <a:cxnLst/>
              <a:rect r="r" b="b" t="t" l="l"/>
              <a:pathLst>
                <a:path h="326392" w="3431667">
                  <a:moveTo>
                    <a:pt x="16891" y="0"/>
                  </a:moveTo>
                  <a:lnTo>
                    <a:pt x="3414776" y="0"/>
                  </a:lnTo>
                  <a:cubicBezTo>
                    <a:pt x="3424174" y="0"/>
                    <a:pt x="3431667" y="7620"/>
                    <a:pt x="3431667" y="16891"/>
                  </a:cubicBezTo>
                  <a:lnTo>
                    <a:pt x="3431667" y="309499"/>
                  </a:lnTo>
                  <a:cubicBezTo>
                    <a:pt x="3431667" y="318897"/>
                    <a:pt x="3424047" y="326390"/>
                    <a:pt x="3414776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414776" y="292608"/>
                  </a:lnTo>
                  <a:lnTo>
                    <a:pt x="3414776" y="309499"/>
                  </a:lnTo>
                  <a:lnTo>
                    <a:pt x="3397885" y="309499"/>
                  </a:lnTo>
                  <a:lnTo>
                    <a:pt x="3397885" y="16891"/>
                  </a:lnTo>
                  <a:lnTo>
                    <a:pt x="3414776" y="16891"/>
                  </a:lnTo>
                  <a:lnTo>
                    <a:pt x="341477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5943600" y="5266944"/>
            <a:ext cx="3383280" cy="493776"/>
            <a:chOff x="0" y="0"/>
            <a:chExt cx="4511040" cy="65836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92.48%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97063" y="5766311"/>
            <a:ext cx="2646750" cy="244859"/>
            <a:chOff x="0" y="0"/>
            <a:chExt cx="3529000" cy="32647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3495167" cy="292608"/>
            </a:xfrm>
            <a:custGeom>
              <a:avLst/>
              <a:gdLst/>
              <a:ahLst/>
              <a:cxnLst/>
              <a:rect r="r" b="b" t="t" l="l"/>
              <a:pathLst>
                <a:path h="292608" w="3495167">
                  <a:moveTo>
                    <a:pt x="0" y="0"/>
                  </a:moveTo>
                  <a:lnTo>
                    <a:pt x="3495167" y="0"/>
                  </a:lnTo>
                  <a:lnTo>
                    <a:pt x="3495167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528949" cy="326392"/>
            </a:xfrm>
            <a:custGeom>
              <a:avLst/>
              <a:gdLst/>
              <a:ahLst/>
              <a:cxnLst/>
              <a:rect r="r" b="b" t="t" l="l"/>
              <a:pathLst>
                <a:path h="326392" w="3528949">
                  <a:moveTo>
                    <a:pt x="16891" y="0"/>
                  </a:moveTo>
                  <a:lnTo>
                    <a:pt x="3512058" y="0"/>
                  </a:lnTo>
                  <a:cubicBezTo>
                    <a:pt x="3521456" y="0"/>
                    <a:pt x="3528949" y="7620"/>
                    <a:pt x="3528949" y="16891"/>
                  </a:cubicBezTo>
                  <a:lnTo>
                    <a:pt x="3528949" y="309499"/>
                  </a:lnTo>
                  <a:cubicBezTo>
                    <a:pt x="3528949" y="318897"/>
                    <a:pt x="3521329" y="326390"/>
                    <a:pt x="3512058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512058" y="292608"/>
                  </a:lnTo>
                  <a:lnTo>
                    <a:pt x="3512058" y="309499"/>
                  </a:lnTo>
                  <a:lnTo>
                    <a:pt x="3495167" y="309499"/>
                  </a:lnTo>
                  <a:lnTo>
                    <a:pt x="3495167" y="16891"/>
                  </a:lnTo>
                  <a:lnTo>
                    <a:pt x="3512058" y="16891"/>
                  </a:lnTo>
                  <a:lnTo>
                    <a:pt x="351205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326880" y="5266944"/>
            <a:ext cx="3383280" cy="493776"/>
            <a:chOff x="0" y="0"/>
            <a:chExt cx="4511040" cy="65836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95.09%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880343" y="5766311"/>
            <a:ext cx="2676839" cy="244859"/>
            <a:chOff x="0" y="0"/>
            <a:chExt cx="3569119" cy="32647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3535299" cy="292608"/>
            </a:xfrm>
            <a:custGeom>
              <a:avLst/>
              <a:gdLst/>
              <a:ahLst/>
              <a:cxnLst/>
              <a:rect r="r" b="b" t="t" l="l"/>
              <a:pathLst>
                <a:path h="292608" w="3535299">
                  <a:moveTo>
                    <a:pt x="0" y="0"/>
                  </a:moveTo>
                  <a:lnTo>
                    <a:pt x="3535299" y="0"/>
                  </a:lnTo>
                  <a:lnTo>
                    <a:pt x="3535299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569081" cy="326392"/>
            </a:xfrm>
            <a:custGeom>
              <a:avLst/>
              <a:gdLst/>
              <a:ahLst/>
              <a:cxnLst/>
              <a:rect r="r" b="b" t="t" l="l"/>
              <a:pathLst>
                <a:path h="326392" w="3569081">
                  <a:moveTo>
                    <a:pt x="16891" y="0"/>
                  </a:moveTo>
                  <a:lnTo>
                    <a:pt x="3552190" y="0"/>
                  </a:lnTo>
                  <a:cubicBezTo>
                    <a:pt x="3561588" y="0"/>
                    <a:pt x="3569081" y="7620"/>
                    <a:pt x="3569081" y="16891"/>
                  </a:cubicBezTo>
                  <a:lnTo>
                    <a:pt x="3569081" y="309499"/>
                  </a:lnTo>
                  <a:cubicBezTo>
                    <a:pt x="3569081" y="318897"/>
                    <a:pt x="3561461" y="326390"/>
                    <a:pt x="3552190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552190" y="292608"/>
                  </a:lnTo>
                  <a:lnTo>
                    <a:pt x="3552190" y="309499"/>
                  </a:lnTo>
                  <a:lnTo>
                    <a:pt x="3535299" y="309499"/>
                  </a:lnTo>
                  <a:lnTo>
                    <a:pt x="3535299" y="16891"/>
                  </a:lnTo>
                  <a:lnTo>
                    <a:pt x="3552190" y="16891"/>
                  </a:lnTo>
                  <a:lnTo>
                    <a:pt x="35521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710160" y="5266944"/>
            <a:ext cx="3383280" cy="493776"/>
            <a:chOff x="0" y="0"/>
            <a:chExt cx="4511040" cy="65836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0.8640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33727" y="6321295"/>
            <a:ext cx="15557497" cy="1146553"/>
            <a:chOff x="0" y="0"/>
            <a:chExt cx="20743329" cy="152873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20726401" cy="1511808"/>
            </a:xfrm>
            <a:custGeom>
              <a:avLst/>
              <a:gdLst/>
              <a:ahLst/>
              <a:cxnLst/>
              <a:rect r="r" b="b" t="t" l="l"/>
              <a:pathLst>
                <a:path h="1511808" w="20726401">
                  <a:moveTo>
                    <a:pt x="0" y="0"/>
                  </a:moveTo>
                  <a:lnTo>
                    <a:pt x="20726401" y="0"/>
                  </a:lnTo>
                  <a:lnTo>
                    <a:pt x="2072640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0743418" cy="1528826"/>
            </a:xfrm>
            <a:custGeom>
              <a:avLst/>
              <a:gdLst/>
              <a:ahLst/>
              <a:cxnLst/>
              <a:rect r="r" b="b" t="t" l="l"/>
              <a:pathLst>
                <a:path h="1528826" w="20743418">
                  <a:moveTo>
                    <a:pt x="8509" y="0"/>
                  </a:moveTo>
                  <a:lnTo>
                    <a:pt x="20734910" y="0"/>
                  </a:lnTo>
                  <a:cubicBezTo>
                    <a:pt x="20739608" y="0"/>
                    <a:pt x="20743418" y="3810"/>
                    <a:pt x="20743418" y="8509"/>
                  </a:cubicBezTo>
                  <a:lnTo>
                    <a:pt x="20743418" y="1520317"/>
                  </a:lnTo>
                  <a:cubicBezTo>
                    <a:pt x="20743418" y="1525016"/>
                    <a:pt x="20739608" y="1528826"/>
                    <a:pt x="20734910" y="1528826"/>
                  </a:cubicBezTo>
                  <a:lnTo>
                    <a:pt x="8509" y="1528826"/>
                  </a:lnTo>
                  <a:cubicBezTo>
                    <a:pt x="3810" y="1528826"/>
                    <a:pt x="0" y="1525016"/>
                    <a:pt x="0" y="15203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20317"/>
                  </a:lnTo>
                  <a:lnTo>
                    <a:pt x="8509" y="1520317"/>
                  </a:lnTo>
                  <a:lnTo>
                    <a:pt x="8509" y="1511808"/>
                  </a:lnTo>
                  <a:lnTo>
                    <a:pt x="20734910" y="1511808"/>
                  </a:lnTo>
                  <a:lnTo>
                    <a:pt x="20734910" y="1520317"/>
                  </a:lnTo>
                  <a:lnTo>
                    <a:pt x="20726400" y="1520317"/>
                  </a:lnTo>
                  <a:lnTo>
                    <a:pt x="20726400" y="8509"/>
                  </a:lnTo>
                  <a:lnTo>
                    <a:pt x="20734910" y="8509"/>
                  </a:lnTo>
                  <a:lnTo>
                    <a:pt x="207349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859536" y="6327648"/>
            <a:ext cx="5084064" cy="1133856"/>
            <a:chOff x="0" y="0"/>
            <a:chExt cx="6778752" cy="151180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778752" cy="1511808"/>
            </a:xfrm>
            <a:custGeom>
              <a:avLst/>
              <a:gdLst/>
              <a:ahLst/>
              <a:cxnLst/>
              <a:rect r="r" b="b" t="t" l="l"/>
              <a:pathLst>
                <a:path h="151180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68" r="0" b="-3736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778752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Logistic Reg.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113783" y="6900167"/>
            <a:ext cx="1902238" cy="244859"/>
            <a:chOff x="0" y="0"/>
            <a:chExt cx="2536317" cy="32647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2502535" cy="292608"/>
            </a:xfrm>
            <a:custGeom>
              <a:avLst/>
              <a:gdLst/>
              <a:ahLst/>
              <a:cxnLst/>
              <a:rect r="r" b="b" t="t" l="l"/>
              <a:pathLst>
                <a:path h="292608" w="2502535">
                  <a:moveTo>
                    <a:pt x="0" y="0"/>
                  </a:moveTo>
                  <a:lnTo>
                    <a:pt x="2502535" y="0"/>
                  </a:lnTo>
                  <a:lnTo>
                    <a:pt x="2502535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536317" cy="326392"/>
            </a:xfrm>
            <a:custGeom>
              <a:avLst/>
              <a:gdLst/>
              <a:ahLst/>
              <a:cxnLst/>
              <a:rect r="r" b="b" t="t" l="l"/>
              <a:pathLst>
                <a:path h="326392" w="2536317">
                  <a:moveTo>
                    <a:pt x="16891" y="0"/>
                  </a:moveTo>
                  <a:lnTo>
                    <a:pt x="2519426" y="0"/>
                  </a:lnTo>
                  <a:cubicBezTo>
                    <a:pt x="2528824" y="0"/>
                    <a:pt x="2536317" y="7620"/>
                    <a:pt x="2536317" y="16891"/>
                  </a:cubicBezTo>
                  <a:lnTo>
                    <a:pt x="2536317" y="309499"/>
                  </a:lnTo>
                  <a:cubicBezTo>
                    <a:pt x="2536317" y="318897"/>
                    <a:pt x="2528697" y="326390"/>
                    <a:pt x="2519426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2519426" y="292608"/>
                  </a:lnTo>
                  <a:lnTo>
                    <a:pt x="2519426" y="309499"/>
                  </a:lnTo>
                  <a:lnTo>
                    <a:pt x="2502535" y="309499"/>
                  </a:lnTo>
                  <a:lnTo>
                    <a:pt x="2502535" y="16891"/>
                  </a:lnTo>
                  <a:lnTo>
                    <a:pt x="2519426" y="16891"/>
                  </a:lnTo>
                  <a:lnTo>
                    <a:pt x="251942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943600" y="6400800"/>
            <a:ext cx="3383280" cy="493776"/>
            <a:chOff x="0" y="0"/>
            <a:chExt cx="4511040" cy="65836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68.11%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497063" y="6900167"/>
            <a:ext cx="2226907" cy="244859"/>
            <a:chOff x="0" y="0"/>
            <a:chExt cx="2969209" cy="32647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2935351" cy="292608"/>
            </a:xfrm>
            <a:custGeom>
              <a:avLst/>
              <a:gdLst/>
              <a:ahLst/>
              <a:cxnLst/>
              <a:rect r="r" b="b" t="t" l="l"/>
              <a:pathLst>
                <a:path h="292608" w="2935351">
                  <a:moveTo>
                    <a:pt x="0" y="0"/>
                  </a:moveTo>
                  <a:lnTo>
                    <a:pt x="2935351" y="0"/>
                  </a:lnTo>
                  <a:lnTo>
                    <a:pt x="2935351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69133" cy="326392"/>
            </a:xfrm>
            <a:custGeom>
              <a:avLst/>
              <a:gdLst/>
              <a:ahLst/>
              <a:cxnLst/>
              <a:rect r="r" b="b" t="t" l="l"/>
              <a:pathLst>
                <a:path h="326392" w="2969133">
                  <a:moveTo>
                    <a:pt x="16891" y="0"/>
                  </a:moveTo>
                  <a:lnTo>
                    <a:pt x="2952242" y="0"/>
                  </a:lnTo>
                  <a:cubicBezTo>
                    <a:pt x="2961640" y="0"/>
                    <a:pt x="2969133" y="7620"/>
                    <a:pt x="2969133" y="16891"/>
                  </a:cubicBezTo>
                  <a:lnTo>
                    <a:pt x="2969133" y="309499"/>
                  </a:lnTo>
                  <a:cubicBezTo>
                    <a:pt x="2969133" y="318897"/>
                    <a:pt x="2961513" y="326390"/>
                    <a:pt x="2952242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2952242" y="292608"/>
                  </a:lnTo>
                  <a:lnTo>
                    <a:pt x="2952242" y="309499"/>
                  </a:lnTo>
                  <a:lnTo>
                    <a:pt x="2935351" y="309499"/>
                  </a:lnTo>
                  <a:lnTo>
                    <a:pt x="2935351" y="16891"/>
                  </a:lnTo>
                  <a:lnTo>
                    <a:pt x="2952242" y="16891"/>
                  </a:lnTo>
                  <a:lnTo>
                    <a:pt x="295224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326880" y="6400800"/>
            <a:ext cx="3383280" cy="493776"/>
            <a:chOff x="0" y="0"/>
            <a:chExt cx="4511040" cy="65836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79.86%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880343" y="6900167"/>
            <a:ext cx="2465099" cy="244859"/>
            <a:chOff x="0" y="0"/>
            <a:chExt cx="3286798" cy="32647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3252978" cy="292608"/>
            </a:xfrm>
            <a:custGeom>
              <a:avLst/>
              <a:gdLst/>
              <a:ahLst/>
              <a:cxnLst/>
              <a:rect r="r" b="b" t="t" l="l"/>
              <a:pathLst>
                <a:path h="292608" w="3252978">
                  <a:moveTo>
                    <a:pt x="0" y="0"/>
                  </a:moveTo>
                  <a:lnTo>
                    <a:pt x="3252978" y="0"/>
                  </a:lnTo>
                  <a:lnTo>
                    <a:pt x="3252978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286760" cy="326392"/>
            </a:xfrm>
            <a:custGeom>
              <a:avLst/>
              <a:gdLst/>
              <a:ahLst/>
              <a:cxnLst/>
              <a:rect r="r" b="b" t="t" l="l"/>
              <a:pathLst>
                <a:path h="326392" w="3286760">
                  <a:moveTo>
                    <a:pt x="16891" y="0"/>
                  </a:moveTo>
                  <a:lnTo>
                    <a:pt x="3269869" y="0"/>
                  </a:lnTo>
                  <a:cubicBezTo>
                    <a:pt x="3279267" y="0"/>
                    <a:pt x="3286760" y="7620"/>
                    <a:pt x="3286760" y="16891"/>
                  </a:cubicBezTo>
                  <a:lnTo>
                    <a:pt x="3286760" y="309499"/>
                  </a:lnTo>
                  <a:cubicBezTo>
                    <a:pt x="3286760" y="318897"/>
                    <a:pt x="3279140" y="326390"/>
                    <a:pt x="3269869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269869" y="292608"/>
                  </a:lnTo>
                  <a:lnTo>
                    <a:pt x="3269869" y="309499"/>
                  </a:lnTo>
                  <a:lnTo>
                    <a:pt x="3252978" y="309499"/>
                  </a:lnTo>
                  <a:lnTo>
                    <a:pt x="3252978" y="16891"/>
                  </a:lnTo>
                  <a:lnTo>
                    <a:pt x="3269869" y="16891"/>
                  </a:lnTo>
                  <a:lnTo>
                    <a:pt x="326986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2710160" y="6400800"/>
            <a:ext cx="3383280" cy="493776"/>
            <a:chOff x="0" y="0"/>
            <a:chExt cx="4511040" cy="65836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511040" cy="658368"/>
            </a:xfrm>
            <a:custGeom>
              <a:avLst/>
              <a:gdLst/>
              <a:ahLst/>
              <a:cxnLst/>
              <a:rect r="r" b="b" t="t" l="l"/>
              <a:pathLst>
                <a:path h="65836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08" r="0" b="-83508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5110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0.7950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630555" y="8073771"/>
            <a:ext cx="17026890" cy="1573530"/>
            <a:chOff x="0" y="0"/>
            <a:chExt cx="22702520" cy="20980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2700" y="12700"/>
              <a:ext cx="22677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2702520" cy="2098040"/>
            </a:xfrm>
            <a:custGeom>
              <a:avLst/>
              <a:gdLst/>
              <a:ahLst/>
              <a:cxnLst/>
              <a:rect r="r" b="b" t="t" l="l"/>
              <a:pathLst>
                <a:path h="2098040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2085340"/>
                  </a:lnTo>
                  <a:cubicBezTo>
                    <a:pt x="22702520" y="2092325"/>
                    <a:pt x="22696805" y="2098040"/>
                    <a:pt x="22689820" y="2098040"/>
                  </a:cubicBezTo>
                  <a:lnTo>
                    <a:pt x="12700" y="2098040"/>
                  </a:lnTo>
                  <a:cubicBezTo>
                    <a:pt x="5715" y="2098040"/>
                    <a:pt x="0" y="2092325"/>
                    <a:pt x="0" y="2085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85340"/>
                  </a:lnTo>
                  <a:lnTo>
                    <a:pt x="12700" y="2085340"/>
                  </a:lnTo>
                  <a:lnTo>
                    <a:pt x="12700" y="2072640"/>
                  </a:lnTo>
                  <a:lnTo>
                    <a:pt x="22689820" y="2072640"/>
                  </a:lnTo>
                  <a:lnTo>
                    <a:pt x="22689820" y="2085340"/>
                  </a:lnTo>
                  <a:lnTo>
                    <a:pt x="22677120" y="2085340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27383" y="8070599"/>
            <a:ext cx="153419" cy="1579883"/>
            <a:chOff x="0" y="0"/>
            <a:chExt cx="204559" cy="210651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706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044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89531"/>
                  </a:lnTo>
                  <a:cubicBezTo>
                    <a:pt x="204470" y="2098929"/>
                    <a:pt x="196850" y="2106422"/>
                    <a:pt x="1875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87579" y="2072640"/>
                  </a:lnTo>
                  <a:lnTo>
                    <a:pt x="187579" y="2089531"/>
                  </a:lnTo>
                  <a:lnTo>
                    <a:pt x="170688" y="2089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05840" y="8138160"/>
            <a:ext cx="9144000" cy="694944"/>
            <a:chOff x="0" y="0"/>
            <a:chExt cx="12192000" cy="92659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2192000" cy="926592"/>
            </a:xfrm>
            <a:custGeom>
              <a:avLst/>
              <a:gdLst/>
              <a:ahLst/>
              <a:cxnLst/>
              <a:rect r="r" b="b" t="t" l="l"/>
              <a:pathLst>
                <a:path h="92659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382" r="0" b="-206382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12192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🏆  Random Forest sélectionné comme modèle principal :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005840" y="8778240"/>
            <a:ext cx="15910560" cy="658368"/>
            <a:chOff x="0" y="0"/>
            <a:chExt cx="21214080" cy="87782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1214080" cy="877824"/>
            </a:xfrm>
            <a:custGeom>
              <a:avLst/>
              <a:gdLst/>
              <a:ahLst/>
              <a:cxnLst/>
              <a:rect r="r" b="b" t="t" l="l"/>
              <a:pathLst>
                <a:path h="877824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0888" r="0" b="-420888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212140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 99.55% · F1 99.51% · AUC-ROC 0.894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0424160" y="8138160"/>
            <a:ext cx="6949440" cy="694944"/>
            <a:chOff x="0" y="0"/>
            <a:chExt cx="9265920" cy="92659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★ Meilleur compromis précision / robustesse sur toutes les métriques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29383" y="261623"/>
            <a:ext cx="1305563" cy="610619"/>
            <a:chOff x="0" y="0"/>
            <a:chExt cx="1740751" cy="814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0662" cy="814072"/>
            </a:xfrm>
            <a:custGeom>
              <a:avLst/>
              <a:gdLst/>
              <a:ahLst/>
              <a:cxnLst/>
              <a:rect r="r" b="b" t="t" l="l"/>
              <a:pathLst>
                <a:path h="81407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797179"/>
                  </a:lnTo>
                  <a:cubicBezTo>
                    <a:pt x="1740662" y="806577"/>
                    <a:pt x="1733042" y="814070"/>
                    <a:pt x="17237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723771" y="780288"/>
                  </a:lnTo>
                  <a:lnTo>
                    <a:pt x="1723771" y="797179"/>
                  </a:lnTo>
                  <a:lnTo>
                    <a:pt x="1706880" y="797179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Perspectives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121159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1426464"/>
            <a:ext cx="17007840" cy="694944"/>
            <a:chOff x="0" y="0"/>
            <a:chExt cx="2267712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6870" r="0" b="-4268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2677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 que le projet démontre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0555" y="2221611"/>
            <a:ext cx="17026890" cy="1445514"/>
            <a:chOff x="0" y="0"/>
            <a:chExt cx="22702520" cy="19273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22677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702520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1914652"/>
                  </a:lnTo>
                  <a:cubicBezTo>
                    <a:pt x="22702520" y="1921637"/>
                    <a:pt x="22696805" y="1927352"/>
                    <a:pt x="22689820" y="1927352"/>
                  </a:cubicBezTo>
                  <a:lnTo>
                    <a:pt x="12700" y="1927352"/>
                  </a:lnTo>
                  <a:cubicBezTo>
                    <a:pt x="5715" y="1927352"/>
                    <a:pt x="0" y="1921637"/>
                    <a:pt x="0" y="19146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14652"/>
                  </a:lnTo>
                  <a:lnTo>
                    <a:pt x="12700" y="1914652"/>
                  </a:lnTo>
                  <a:lnTo>
                    <a:pt x="12700" y="1901952"/>
                  </a:lnTo>
                  <a:lnTo>
                    <a:pt x="22689820" y="1901952"/>
                  </a:lnTo>
                  <a:lnTo>
                    <a:pt x="22689820" y="1914652"/>
                  </a:lnTo>
                  <a:lnTo>
                    <a:pt x="22677120" y="1914652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27383" y="2218439"/>
            <a:ext cx="153419" cy="1451867"/>
            <a:chOff x="0" y="0"/>
            <a:chExt cx="204559" cy="19358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2231136"/>
            <a:ext cx="731520" cy="1426464"/>
            <a:chOff x="0" y="0"/>
            <a:chExt cx="975360" cy="19019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0191" t="0" r="-20019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75360" cy="1959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37360" y="2231136"/>
            <a:ext cx="15636240" cy="1426464"/>
            <a:chOff x="0" y="0"/>
            <a:chExt cx="20848320" cy="19019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848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084832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 signaux disponibles avant livraison (prix, frais, catégorie, temporalité) suffisent à identifier les commandes à risque avec une très haute précision.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0555" y="3830955"/>
            <a:ext cx="17026890" cy="1445514"/>
            <a:chOff x="0" y="0"/>
            <a:chExt cx="22702520" cy="19273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22677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702520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1914652"/>
                  </a:lnTo>
                  <a:cubicBezTo>
                    <a:pt x="22702520" y="1921637"/>
                    <a:pt x="22696805" y="1927352"/>
                    <a:pt x="22689820" y="1927352"/>
                  </a:cubicBezTo>
                  <a:lnTo>
                    <a:pt x="12700" y="1927352"/>
                  </a:lnTo>
                  <a:cubicBezTo>
                    <a:pt x="5715" y="1927352"/>
                    <a:pt x="0" y="1921637"/>
                    <a:pt x="0" y="19146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14652"/>
                  </a:lnTo>
                  <a:lnTo>
                    <a:pt x="12700" y="1914652"/>
                  </a:lnTo>
                  <a:lnTo>
                    <a:pt x="12700" y="1901952"/>
                  </a:lnTo>
                  <a:lnTo>
                    <a:pt x="22689820" y="1901952"/>
                  </a:lnTo>
                  <a:lnTo>
                    <a:pt x="22689820" y="1914652"/>
                  </a:lnTo>
                  <a:lnTo>
                    <a:pt x="22677120" y="1914652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27383" y="3827783"/>
            <a:ext cx="153419" cy="1451867"/>
            <a:chOff x="0" y="0"/>
            <a:chExt cx="204559" cy="19358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3840480"/>
            <a:ext cx="731520" cy="1426464"/>
            <a:chOff x="0" y="0"/>
            <a:chExt cx="975360" cy="19019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0191" t="0" r="-20019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975360" cy="1959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37360" y="3840480"/>
            <a:ext cx="15636240" cy="1426464"/>
            <a:chOff x="0" y="0"/>
            <a:chExt cx="20848320" cy="19019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848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084832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domine avec 99.55% d'Accuracy et AUC-ROC 0.894, confirmant la robustesse des méthodes ensemblistes sur des données déséquilibrées.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30555" y="5440299"/>
            <a:ext cx="17026890" cy="1445514"/>
            <a:chOff x="0" y="0"/>
            <a:chExt cx="22702520" cy="19273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22677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702520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1914652"/>
                  </a:lnTo>
                  <a:cubicBezTo>
                    <a:pt x="22702520" y="1921637"/>
                    <a:pt x="22696805" y="1927352"/>
                    <a:pt x="22689820" y="1927352"/>
                  </a:cubicBezTo>
                  <a:lnTo>
                    <a:pt x="12700" y="1927352"/>
                  </a:lnTo>
                  <a:cubicBezTo>
                    <a:pt x="5715" y="1927352"/>
                    <a:pt x="0" y="1921637"/>
                    <a:pt x="0" y="19146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14652"/>
                  </a:lnTo>
                  <a:lnTo>
                    <a:pt x="12700" y="1914652"/>
                  </a:lnTo>
                  <a:lnTo>
                    <a:pt x="12700" y="1901952"/>
                  </a:lnTo>
                  <a:lnTo>
                    <a:pt x="22689820" y="1901952"/>
                  </a:lnTo>
                  <a:lnTo>
                    <a:pt x="22689820" y="1914652"/>
                  </a:lnTo>
                  <a:lnTo>
                    <a:pt x="22677120" y="1914652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27383" y="5437127"/>
            <a:ext cx="153419" cy="1451867"/>
            <a:chOff x="0" y="0"/>
            <a:chExt cx="204559" cy="19358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5449824"/>
            <a:ext cx="731520" cy="1426464"/>
            <a:chOff x="0" y="0"/>
            <a:chExt cx="975360" cy="19019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0191" t="0" r="-20019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75360" cy="1959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37360" y="5449824"/>
            <a:ext cx="15636240" cy="1426464"/>
            <a:chOff x="0" y="0"/>
            <a:chExt cx="20848320" cy="19019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848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084832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pipeline (data_loader → preprocessing → modeling → evaluation) est modulaire, reproductible et facilement maintenable en production.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0080" y="7077456"/>
            <a:ext cx="9144000" cy="658368"/>
            <a:chOff x="0" y="0"/>
            <a:chExt cx="12192000" cy="8778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219200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Perspectives d'amélioration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33727" y="7820911"/>
            <a:ext cx="8242297" cy="817369"/>
            <a:chOff x="0" y="0"/>
            <a:chExt cx="10989729" cy="108982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10972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89818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081405"/>
                  </a:lnTo>
                  <a:cubicBezTo>
                    <a:pt x="10989818" y="1086104"/>
                    <a:pt x="10986008" y="1089914"/>
                    <a:pt x="10981309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10981309" y="1072896"/>
                  </a:lnTo>
                  <a:lnTo>
                    <a:pt x="10981309" y="1081405"/>
                  </a:lnTo>
                  <a:lnTo>
                    <a:pt x="10972800" y="1081405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59536" y="7827264"/>
            <a:ext cx="7863840" cy="804672"/>
            <a:chOff x="0" y="0"/>
            <a:chExt cx="10485120" cy="10728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4851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SMOTE / class_weight pour le déséquilibre des classes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33727" y="8771887"/>
            <a:ext cx="8242297" cy="817369"/>
            <a:chOff x="0" y="0"/>
            <a:chExt cx="10989729" cy="108982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10972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989818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081405"/>
                  </a:lnTo>
                  <a:cubicBezTo>
                    <a:pt x="10989818" y="1086104"/>
                    <a:pt x="10986008" y="1089914"/>
                    <a:pt x="10981309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10981309" y="1072896"/>
                  </a:lnTo>
                  <a:lnTo>
                    <a:pt x="10981309" y="1081405"/>
                  </a:lnTo>
                  <a:lnTo>
                    <a:pt x="10972800" y="1081405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59536" y="8778240"/>
            <a:ext cx="7863840" cy="804672"/>
            <a:chOff x="0" y="0"/>
            <a:chExt cx="10485120" cy="10728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4851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Optimisation des hyperparamètres (GridSearchCV)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320527" y="7820911"/>
            <a:ext cx="8242297" cy="817369"/>
            <a:chOff x="0" y="0"/>
            <a:chExt cx="10989729" cy="108982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8509" y="8509"/>
              <a:ext cx="10972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89818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081405"/>
                  </a:lnTo>
                  <a:cubicBezTo>
                    <a:pt x="10989818" y="1086104"/>
                    <a:pt x="10986008" y="1089914"/>
                    <a:pt x="10981309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10981309" y="1072896"/>
                  </a:lnTo>
                  <a:lnTo>
                    <a:pt x="10981309" y="1081405"/>
                  </a:lnTo>
                  <a:lnTo>
                    <a:pt x="10972800" y="1081405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46336" y="7827264"/>
            <a:ext cx="7863840" cy="804672"/>
            <a:chOff x="0" y="0"/>
            <a:chExt cx="10485120" cy="10728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04851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Intégration de features NLP (commentaires clients)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20527" y="8771887"/>
            <a:ext cx="8242297" cy="817369"/>
            <a:chOff x="0" y="0"/>
            <a:chExt cx="10989729" cy="108982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10972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89818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081405"/>
                  </a:lnTo>
                  <a:cubicBezTo>
                    <a:pt x="10989818" y="1086104"/>
                    <a:pt x="10986008" y="1089914"/>
                    <a:pt x="10981309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10981309" y="1072896"/>
                  </a:lnTo>
                  <a:lnTo>
                    <a:pt x="10981309" y="1081405"/>
                  </a:lnTo>
                  <a:lnTo>
                    <a:pt x="10972800" y="1081405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546336" y="8778240"/>
            <a:ext cx="7863840" cy="804672"/>
            <a:chOff x="0" y="0"/>
            <a:chExt cx="10485120" cy="10728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4851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Déploiement via API (FastAPI + Docker)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DAHG7ZQB12w</dc:identifier>
  <dcterms:modified xsi:type="dcterms:W3CDTF">2011-08-01T06:04:30Z</dcterms:modified>
  <cp:revision>1</cp:revision>
  <dc:title>ML_presentation</dc:title>
</cp:coreProperties>
</file>