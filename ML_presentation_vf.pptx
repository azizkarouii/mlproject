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 Italics" charset="1" panose="020F05020202040A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74503" y="535943"/>
            <a:ext cx="6974843" cy="6974843"/>
            <a:chOff x="0" y="0"/>
            <a:chExt cx="9299791" cy="9299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9265920" cy="9265920"/>
            </a:xfrm>
            <a:custGeom>
              <a:avLst/>
              <a:gdLst/>
              <a:ahLst/>
              <a:cxnLst/>
              <a:rect r="r" b="b" t="t" l="l"/>
              <a:pathLst>
                <a:path h="9265920" w="9265920">
                  <a:moveTo>
                    <a:pt x="0" y="4632960"/>
                  </a:moveTo>
                  <a:cubicBezTo>
                    <a:pt x="0" y="2074291"/>
                    <a:pt x="2074291" y="0"/>
                    <a:pt x="4632960" y="0"/>
                  </a:cubicBezTo>
                  <a:cubicBezTo>
                    <a:pt x="7191629" y="0"/>
                    <a:pt x="9265920" y="2074291"/>
                    <a:pt x="9265920" y="4632960"/>
                  </a:cubicBezTo>
                  <a:cubicBezTo>
                    <a:pt x="9265920" y="7191629"/>
                    <a:pt x="7191629" y="9265920"/>
                    <a:pt x="4632960" y="9265920"/>
                  </a:cubicBezTo>
                  <a:cubicBezTo>
                    <a:pt x="2074291" y="9265920"/>
                    <a:pt x="0" y="7191756"/>
                    <a:pt x="0" y="4632960"/>
                  </a:cubicBezTo>
                  <a:close/>
                </a:path>
              </a:pathLst>
            </a:custGeom>
            <a:solidFill>
              <a:srgbClr val="3B82F6">
                <a:alpha val="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99829" cy="9299702"/>
            </a:xfrm>
            <a:custGeom>
              <a:avLst/>
              <a:gdLst/>
              <a:ahLst/>
              <a:cxnLst/>
              <a:rect r="r" b="b" t="t" l="l"/>
              <a:pathLst>
                <a:path h="9299702" w="9299829">
                  <a:moveTo>
                    <a:pt x="0" y="4649851"/>
                  </a:moveTo>
                  <a:cubicBezTo>
                    <a:pt x="0" y="2081784"/>
                    <a:pt x="2081784" y="0"/>
                    <a:pt x="4649851" y="0"/>
                  </a:cubicBezTo>
                  <a:lnTo>
                    <a:pt x="4649851" y="16891"/>
                  </a:lnTo>
                  <a:lnTo>
                    <a:pt x="4649851" y="0"/>
                  </a:lnTo>
                  <a:cubicBezTo>
                    <a:pt x="7217918" y="0"/>
                    <a:pt x="9299829" y="2081784"/>
                    <a:pt x="9299829" y="4649851"/>
                  </a:cubicBezTo>
                  <a:lnTo>
                    <a:pt x="9282938" y="4649851"/>
                  </a:lnTo>
                  <a:lnTo>
                    <a:pt x="9299829" y="4649851"/>
                  </a:lnTo>
                  <a:cubicBezTo>
                    <a:pt x="9299829" y="7217918"/>
                    <a:pt x="7218045" y="9299702"/>
                    <a:pt x="4649978" y="9299702"/>
                  </a:cubicBezTo>
                  <a:lnTo>
                    <a:pt x="4649978" y="9282811"/>
                  </a:lnTo>
                  <a:lnTo>
                    <a:pt x="4649978" y="9299702"/>
                  </a:lnTo>
                  <a:cubicBezTo>
                    <a:pt x="2081784" y="9299829"/>
                    <a:pt x="0" y="7217918"/>
                    <a:pt x="0" y="4649851"/>
                  </a:cubicBezTo>
                  <a:lnTo>
                    <a:pt x="16891" y="464985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0" y="4649851"/>
                  </a:lnTo>
                  <a:moveTo>
                    <a:pt x="33909" y="4649851"/>
                  </a:moveTo>
                  <a:cubicBezTo>
                    <a:pt x="33909" y="4659249"/>
                    <a:pt x="26289" y="4666742"/>
                    <a:pt x="17018" y="4666742"/>
                  </a:cubicBezTo>
                  <a:cubicBezTo>
                    <a:pt x="7747" y="4666742"/>
                    <a:pt x="0" y="4659249"/>
                    <a:pt x="0" y="4649851"/>
                  </a:cubicBezTo>
                  <a:cubicBezTo>
                    <a:pt x="0" y="4640453"/>
                    <a:pt x="7620" y="4632960"/>
                    <a:pt x="16891" y="4632960"/>
                  </a:cubicBezTo>
                  <a:cubicBezTo>
                    <a:pt x="26162" y="4632960"/>
                    <a:pt x="33782" y="4640580"/>
                    <a:pt x="33782" y="4649851"/>
                  </a:cubicBezTo>
                  <a:cubicBezTo>
                    <a:pt x="33909" y="7199249"/>
                    <a:pt x="2100580" y="9265920"/>
                    <a:pt x="4649851" y="9265920"/>
                  </a:cubicBezTo>
                  <a:cubicBezTo>
                    <a:pt x="7199249" y="9265920"/>
                    <a:pt x="9265920" y="7199249"/>
                    <a:pt x="9265920" y="4649851"/>
                  </a:cubicBezTo>
                  <a:cubicBezTo>
                    <a:pt x="9265920" y="2100580"/>
                    <a:pt x="7199249" y="33909"/>
                    <a:pt x="4649851" y="33909"/>
                  </a:cubicBezTo>
                  <a:lnTo>
                    <a:pt x="4649851" y="16891"/>
                  </a:lnTo>
                  <a:lnTo>
                    <a:pt x="4649851" y="33909"/>
                  </a:lnTo>
                  <a:cubicBezTo>
                    <a:pt x="2100580" y="33909"/>
                    <a:pt x="33909" y="2100580"/>
                    <a:pt x="33909" y="4649851"/>
                  </a:cubicBezTo>
                  <a:close/>
                </a:path>
              </a:pathLst>
            </a:custGeom>
            <a:solidFill>
              <a:srgbClr val="3B82F6">
                <a:alpha val="8627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54663" y="2730503"/>
            <a:ext cx="4597403" cy="4597403"/>
            <a:chOff x="0" y="0"/>
            <a:chExt cx="6129871" cy="6129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00D4AA">
                <a:alpha val="117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00D4AA">
                <a:alpha val="1215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66343" y="5839463"/>
            <a:ext cx="2768603" cy="2768603"/>
            <a:chOff x="0" y="0"/>
            <a:chExt cx="3691471" cy="36914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91509" cy="3691382"/>
            </a:xfrm>
            <a:custGeom>
              <a:avLst/>
              <a:gdLst/>
              <a:ahLst/>
              <a:cxnLst/>
              <a:rect r="r" b="b" t="t" l="l"/>
              <a:pathLst>
                <a:path h="3691382" w="3691509">
                  <a:moveTo>
                    <a:pt x="0" y="1845691"/>
                  </a:moveTo>
                  <a:cubicBezTo>
                    <a:pt x="0" y="826389"/>
                    <a:pt x="826389" y="0"/>
                    <a:pt x="1845691" y="0"/>
                  </a:cubicBezTo>
                  <a:lnTo>
                    <a:pt x="1845691" y="16891"/>
                  </a:lnTo>
                  <a:lnTo>
                    <a:pt x="1845691" y="0"/>
                  </a:lnTo>
                  <a:cubicBezTo>
                    <a:pt x="2865120" y="0"/>
                    <a:pt x="3691509" y="826389"/>
                    <a:pt x="3691509" y="1845691"/>
                  </a:cubicBezTo>
                  <a:cubicBezTo>
                    <a:pt x="3691509" y="2865120"/>
                    <a:pt x="2865120" y="3691382"/>
                    <a:pt x="1845818" y="3691382"/>
                  </a:cubicBezTo>
                  <a:lnTo>
                    <a:pt x="1845818" y="3674491"/>
                  </a:lnTo>
                  <a:lnTo>
                    <a:pt x="1845818" y="3691382"/>
                  </a:lnTo>
                  <a:cubicBezTo>
                    <a:pt x="826389" y="3691509"/>
                    <a:pt x="0" y="2865120"/>
                    <a:pt x="0" y="1845691"/>
                  </a:cubicBezTo>
                  <a:lnTo>
                    <a:pt x="16891" y="1845691"/>
                  </a:lnTo>
                  <a:lnTo>
                    <a:pt x="31115" y="1854835"/>
                  </a:lnTo>
                  <a:cubicBezTo>
                    <a:pt x="27051" y="1861185"/>
                    <a:pt x="19304" y="1864106"/>
                    <a:pt x="12065" y="1861947"/>
                  </a:cubicBezTo>
                  <a:cubicBezTo>
                    <a:pt x="4826" y="1859788"/>
                    <a:pt x="0" y="1853311"/>
                    <a:pt x="0" y="1845691"/>
                  </a:cubicBezTo>
                  <a:moveTo>
                    <a:pt x="33909" y="1845691"/>
                  </a:moveTo>
                  <a:lnTo>
                    <a:pt x="16891" y="1845691"/>
                  </a:lnTo>
                  <a:lnTo>
                    <a:pt x="2667" y="1836547"/>
                  </a:lnTo>
                  <a:cubicBezTo>
                    <a:pt x="6731" y="1830197"/>
                    <a:pt x="14478" y="1827276"/>
                    <a:pt x="21717" y="1829435"/>
                  </a:cubicBezTo>
                  <a:cubicBezTo>
                    <a:pt x="28956" y="1831594"/>
                    <a:pt x="33909" y="1838198"/>
                    <a:pt x="33909" y="1845691"/>
                  </a:cubicBezTo>
                  <a:cubicBezTo>
                    <a:pt x="33909" y="2846451"/>
                    <a:pt x="845058" y="3657600"/>
                    <a:pt x="1845691" y="3657600"/>
                  </a:cubicBezTo>
                  <a:cubicBezTo>
                    <a:pt x="2846451" y="3657600"/>
                    <a:pt x="3657600" y="2846451"/>
                    <a:pt x="3657600" y="1845691"/>
                  </a:cubicBezTo>
                  <a:lnTo>
                    <a:pt x="3674491" y="1845691"/>
                  </a:lnTo>
                  <a:lnTo>
                    <a:pt x="3657600" y="1845691"/>
                  </a:lnTo>
                  <a:cubicBezTo>
                    <a:pt x="3657600" y="845058"/>
                    <a:pt x="2846451" y="33909"/>
                    <a:pt x="1845691" y="33909"/>
                  </a:cubicBezTo>
                  <a:lnTo>
                    <a:pt x="1845691" y="16891"/>
                  </a:lnTo>
                  <a:lnTo>
                    <a:pt x="1845691" y="33909"/>
                  </a:lnTo>
                  <a:cubicBezTo>
                    <a:pt x="845058" y="33909"/>
                    <a:pt x="33909" y="845058"/>
                    <a:pt x="33909" y="1845691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005840"/>
            <a:ext cx="11338560" cy="3474720"/>
            <a:chOff x="0" y="0"/>
            <a:chExt cx="15118080" cy="463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180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82" r="0" b="-135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15118080" cy="477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de Propension</a:t>
              </a:r>
            </a:p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 Retour / Remboursement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4595879"/>
            <a:ext cx="8803643" cy="98555"/>
            <a:chOff x="0" y="0"/>
            <a:chExt cx="11738191" cy="131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1704320" cy="97536"/>
            </a:xfrm>
            <a:custGeom>
              <a:avLst/>
              <a:gdLst/>
              <a:ahLst/>
              <a:cxnLst/>
              <a:rect r="r" b="b" t="t" l="l"/>
              <a:pathLst>
                <a:path h="9753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38101" cy="131320"/>
            </a:xfrm>
            <a:custGeom>
              <a:avLst/>
              <a:gdLst/>
              <a:ahLst/>
              <a:cxnLst/>
              <a:rect r="r" b="b" t="t" l="l"/>
              <a:pathLst>
                <a:path h="131320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114427"/>
                  </a:lnTo>
                  <a:cubicBezTo>
                    <a:pt x="11738101" y="123825"/>
                    <a:pt x="11730482" y="131318"/>
                    <a:pt x="117212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1721211" y="97536"/>
                  </a:lnTo>
                  <a:lnTo>
                    <a:pt x="11721211" y="114427"/>
                  </a:lnTo>
                  <a:lnTo>
                    <a:pt x="11704320" y="114427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4791456"/>
            <a:ext cx="11521440" cy="1554480"/>
            <a:chOff x="0" y="0"/>
            <a:chExt cx="15361920" cy="2072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61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418" r="0" b="-944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536192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Prédiction des commandes à risque d'annulation ou d'indisponibilité</a:t>
              </a:r>
            </a:p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sur le dataset Olist Brazilian E-Commerce (Kaggle)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6607559"/>
            <a:ext cx="3683003" cy="903227"/>
            <a:chOff x="0" y="0"/>
            <a:chExt cx="4910671" cy="12043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6620256"/>
            <a:ext cx="3657600" cy="877824"/>
            <a:chOff x="0" y="0"/>
            <a:chExt cx="487680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8768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~100 000 commandes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42183" y="6607559"/>
            <a:ext cx="3683003" cy="903227"/>
            <a:chOff x="0" y="0"/>
            <a:chExt cx="4910671" cy="12043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754880" y="6620256"/>
            <a:ext cx="3657600" cy="877824"/>
            <a:chOff x="0" y="0"/>
            <a:chExt cx="487680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8768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modèles ML comparés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65543" y="6607559"/>
            <a:ext cx="3683003" cy="903227"/>
            <a:chOff x="0" y="0"/>
            <a:chExt cx="4910671" cy="12043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778240" y="6620256"/>
            <a:ext cx="3657600" cy="877824"/>
            <a:chOff x="0" y="0"/>
            <a:chExt cx="4876800" cy="11704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8768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binaire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8308343"/>
            <a:ext cx="6426203" cy="1342139"/>
            <a:chOff x="0" y="0"/>
            <a:chExt cx="8568271" cy="17895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681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772539"/>
                  </a:lnTo>
                  <a:cubicBezTo>
                    <a:pt x="8568182" y="1781937"/>
                    <a:pt x="8560562" y="1789430"/>
                    <a:pt x="855129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8551291" y="1755648"/>
                  </a:lnTo>
                  <a:lnTo>
                    <a:pt x="8551291" y="1772539"/>
                  </a:lnTo>
                  <a:lnTo>
                    <a:pt x="8534400" y="177253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8321040"/>
            <a:ext cx="6400800" cy="1316736"/>
            <a:chOff x="0" y="0"/>
            <a:chExt cx="8534400" cy="17556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18" r="0" b="-4471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5344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Mohamed Aziz Karoui &amp; Wassim Sioud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Problématique &amp; Objectifs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4840" y="1905000"/>
            <a:ext cx="17038320" cy="1950720"/>
            <a:chOff x="0" y="0"/>
            <a:chExt cx="22717760" cy="2600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0320" y="20320"/>
              <a:ext cx="2267711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7759" cy="2600960"/>
            </a:xfrm>
            <a:custGeom>
              <a:avLst/>
              <a:gdLst/>
              <a:ahLst/>
              <a:cxnLst/>
              <a:rect r="r" b="b" t="t" l="l"/>
              <a:pathLst>
                <a:path h="2600960" w="22717759">
                  <a:moveTo>
                    <a:pt x="20320" y="0"/>
                  </a:moveTo>
                  <a:lnTo>
                    <a:pt x="22697439" y="0"/>
                  </a:lnTo>
                  <a:cubicBezTo>
                    <a:pt x="22708615" y="0"/>
                    <a:pt x="22717759" y="9144"/>
                    <a:pt x="22717759" y="20320"/>
                  </a:cubicBezTo>
                  <a:lnTo>
                    <a:pt x="22717759" y="2580640"/>
                  </a:lnTo>
                  <a:cubicBezTo>
                    <a:pt x="22717759" y="2591816"/>
                    <a:pt x="22708615" y="2600960"/>
                    <a:pt x="22697439" y="2600960"/>
                  </a:cubicBezTo>
                  <a:lnTo>
                    <a:pt x="20320" y="2600960"/>
                  </a:lnTo>
                  <a:cubicBezTo>
                    <a:pt x="9144" y="2600960"/>
                    <a:pt x="0" y="2591816"/>
                    <a:pt x="0" y="258064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2580640"/>
                  </a:lnTo>
                  <a:lnTo>
                    <a:pt x="20320" y="2580640"/>
                  </a:lnTo>
                  <a:lnTo>
                    <a:pt x="20320" y="2560320"/>
                  </a:lnTo>
                  <a:lnTo>
                    <a:pt x="22697439" y="2560320"/>
                  </a:lnTo>
                  <a:lnTo>
                    <a:pt x="22697439" y="2580640"/>
                  </a:lnTo>
                  <a:lnTo>
                    <a:pt x="22677120" y="2580640"/>
                  </a:lnTo>
                  <a:lnTo>
                    <a:pt x="22677120" y="20320"/>
                  </a:lnTo>
                  <a:lnTo>
                    <a:pt x="22697439" y="20320"/>
                  </a:lnTo>
                  <a:lnTo>
                    <a:pt x="22697439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1907543"/>
            <a:ext cx="153419" cy="1945643"/>
            <a:chOff x="0" y="0"/>
            <a:chExt cx="204559" cy="25941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70688" cy="2560320"/>
            </a:xfrm>
            <a:custGeom>
              <a:avLst/>
              <a:gdLst/>
              <a:ahLst/>
              <a:cxnLst/>
              <a:rect r="r" b="b" t="t" l="l"/>
              <a:pathLst>
                <a:path h="256032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" cy="2594102"/>
            </a:xfrm>
            <a:custGeom>
              <a:avLst/>
              <a:gdLst/>
              <a:ahLst/>
              <a:cxnLst/>
              <a:rect r="r" b="b" t="t" l="l"/>
              <a:pathLst>
                <a:path h="259410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577211"/>
                  </a:lnTo>
                  <a:cubicBezTo>
                    <a:pt x="204470" y="2586609"/>
                    <a:pt x="196850" y="2594102"/>
                    <a:pt x="187579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87579" y="2560320"/>
                  </a:lnTo>
                  <a:lnTo>
                    <a:pt x="187579" y="2577211"/>
                  </a:lnTo>
                  <a:lnTo>
                    <a:pt x="170688" y="257721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1920240"/>
            <a:ext cx="16459200" cy="1920240"/>
            <a:chOff x="0" y="0"/>
            <a:chExt cx="2194560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19456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Comment identifier une commande à risque de retour ou remboursement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avant même sa livraison 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0555" y="4160139"/>
            <a:ext cx="5505450" cy="5322570"/>
            <a:chOff x="0" y="0"/>
            <a:chExt cx="7340600" cy="7096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731520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0600" cy="7096760"/>
            </a:xfrm>
            <a:custGeom>
              <a:avLst/>
              <a:gdLst/>
              <a:ahLst/>
              <a:cxnLst/>
              <a:rect r="r" b="b" t="t" l="l"/>
              <a:pathLst>
                <a:path h="70967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7084060"/>
                  </a:lnTo>
                  <a:cubicBezTo>
                    <a:pt x="7340600" y="7091045"/>
                    <a:pt x="7334885" y="7096760"/>
                    <a:pt x="7327900" y="7096760"/>
                  </a:cubicBezTo>
                  <a:lnTo>
                    <a:pt x="12700" y="7096760"/>
                  </a:lnTo>
                  <a:cubicBezTo>
                    <a:pt x="5715" y="7096760"/>
                    <a:pt x="0" y="7091045"/>
                    <a:pt x="0" y="7084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084060"/>
                  </a:lnTo>
                  <a:lnTo>
                    <a:pt x="12700" y="7084060"/>
                  </a:lnTo>
                  <a:lnTo>
                    <a:pt x="12700" y="7071360"/>
                  </a:lnTo>
                  <a:lnTo>
                    <a:pt x="7327900" y="7071360"/>
                  </a:lnTo>
                  <a:lnTo>
                    <a:pt x="7327900" y="7084060"/>
                  </a:lnTo>
                  <a:lnTo>
                    <a:pt x="7315200" y="70840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46839" y="4284983"/>
            <a:ext cx="1031243" cy="1031243"/>
            <a:chOff x="0" y="0"/>
            <a:chExt cx="13749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59536" y="4297680"/>
            <a:ext cx="1005840" cy="1005840"/>
            <a:chOff x="0" y="0"/>
            <a:chExt cx="1341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6384" y="5449824"/>
            <a:ext cx="5212080" cy="768096"/>
            <a:chOff x="0" y="0"/>
            <a:chExt cx="694944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9494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Objectif Principal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6309360"/>
            <a:ext cx="5029200" cy="2926080"/>
            <a:chOff x="0" y="0"/>
            <a:chExt cx="6705600" cy="3901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0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705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Construire un modèle de classification binaire prédisant si une commande est à risque (1) ou non (0)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91275" y="4160139"/>
            <a:ext cx="5505450" cy="5322570"/>
            <a:chOff x="0" y="0"/>
            <a:chExt cx="7340600" cy="7096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731520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0600" cy="7096760"/>
            </a:xfrm>
            <a:custGeom>
              <a:avLst/>
              <a:gdLst/>
              <a:ahLst/>
              <a:cxnLst/>
              <a:rect r="r" b="b" t="t" l="l"/>
              <a:pathLst>
                <a:path h="70967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7084060"/>
                  </a:lnTo>
                  <a:cubicBezTo>
                    <a:pt x="7340600" y="7091045"/>
                    <a:pt x="7334885" y="7096760"/>
                    <a:pt x="7327900" y="7096760"/>
                  </a:cubicBezTo>
                  <a:lnTo>
                    <a:pt x="12700" y="7096760"/>
                  </a:lnTo>
                  <a:cubicBezTo>
                    <a:pt x="5715" y="7096760"/>
                    <a:pt x="0" y="7091045"/>
                    <a:pt x="0" y="7084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084060"/>
                  </a:lnTo>
                  <a:lnTo>
                    <a:pt x="12700" y="7084060"/>
                  </a:lnTo>
                  <a:lnTo>
                    <a:pt x="12700" y="7071360"/>
                  </a:lnTo>
                  <a:lnTo>
                    <a:pt x="7327900" y="7071360"/>
                  </a:lnTo>
                  <a:lnTo>
                    <a:pt x="7327900" y="7084060"/>
                  </a:lnTo>
                  <a:lnTo>
                    <a:pt x="7315200" y="70840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07559" y="4284983"/>
            <a:ext cx="1031243" cy="1031243"/>
            <a:chOff x="0" y="0"/>
            <a:chExt cx="1374991" cy="13749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620256" y="4297680"/>
            <a:ext cx="1005840" cy="1005840"/>
            <a:chOff x="0" y="0"/>
            <a:chExt cx="134112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47104" y="5449824"/>
            <a:ext cx="5212080" cy="768096"/>
            <a:chOff x="0" y="0"/>
            <a:chExt cx="694944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9494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 Cible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75120" y="6309360"/>
            <a:ext cx="5029200" cy="2926080"/>
            <a:chOff x="0" y="0"/>
            <a:chExt cx="6705600" cy="3901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0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705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is_return_refund_risk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= annulé / indisponible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= livré avec succès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151995" y="4160139"/>
            <a:ext cx="5505450" cy="5322570"/>
            <a:chOff x="0" y="0"/>
            <a:chExt cx="7340600" cy="70967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7315200" cy="7071360"/>
            </a:xfrm>
            <a:custGeom>
              <a:avLst/>
              <a:gdLst/>
              <a:ahLst/>
              <a:cxnLst/>
              <a:rect r="r" b="b" t="t" l="l"/>
              <a:pathLst>
                <a:path h="7071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0600" cy="7096760"/>
            </a:xfrm>
            <a:custGeom>
              <a:avLst/>
              <a:gdLst/>
              <a:ahLst/>
              <a:cxnLst/>
              <a:rect r="r" b="b" t="t" l="l"/>
              <a:pathLst>
                <a:path h="70967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7084060"/>
                  </a:lnTo>
                  <a:cubicBezTo>
                    <a:pt x="7340600" y="7091045"/>
                    <a:pt x="7334885" y="7096760"/>
                    <a:pt x="7327900" y="7096760"/>
                  </a:cubicBezTo>
                  <a:lnTo>
                    <a:pt x="12700" y="7096760"/>
                  </a:lnTo>
                  <a:cubicBezTo>
                    <a:pt x="5715" y="7096760"/>
                    <a:pt x="0" y="7091045"/>
                    <a:pt x="0" y="7084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084060"/>
                  </a:lnTo>
                  <a:lnTo>
                    <a:pt x="12700" y="7084060"/>
                  </a:lnTo>
                  <a:lnTo>
                    <a:pt x="12700" y="7071360"/>
                  </a:lnTo>
                  <a:lnTo>
                    <a:pt x="7327900" y="7071360"/>
                  </a:lnTo>
                  <a:lnTo>
                    <a:pt x="7327900" y="7084060"/>
                  </a:lnTo>
                  <a:lnTo>
                    <a:pt x="7315200" y="70840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368279" y="4284983"/>
            <a:ext cx="1031243" cy="1031243"/>
            <a:chOff x="0" y="0"/>
            <a:chExt cx="1374991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80976" y="4297680"/>
            <a:ext cx="1005840" cy="1005840"/>
            <a:chOff x="0" y="0"/>
            <a:chExt cx="134112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07824" y="5449824"/>
            <a:ext cx="5212080" cy="768096"/>
            <a:chOff x="0" y="0"/>
            <a:chExt cx="694944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49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69494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Valeur Métier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35840" y="6309360"/>
            <a:ext cx="5029200" cy="2926080"/>
            <a:chOff x="0" y="0"/>
            <a:chExt cx="6705600" cy="3901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05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49" t="0" r="-2464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705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Optimiser la chaîne logistique, réduire les pertes financières et améliorer l'expérience client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— Olist Brazilian E-Commerce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 : Kaggle · 9 fichiers CSV interconnectés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27383" y="1998983"/>
            <a:ext cx="4780283" cy="2219963"/>
            <a:chOff x="0" y="0"/>
            <a:chExt cx="6373711" cy="29599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2103120"/>
            <a:ext cx="4754880" cy="1188720"/>
            <a:chOff x="0" y="0"/>
            <a:chExt cx="6339840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52400"/>
              <a:ext cx="633984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~100K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" y="3291840"/>
            <a:ext cx="4754880" cy="768096"/>
            <a:chOff x="0" y="0"/>
            <a:chExt cx="633984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398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Commandes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7383" y="4559303"/>
            <a:ext cx="4780283" cy="2219963"/>
            <a:chOff x="0" y="0"/>
            <a:chExt cx="6373711" cy="29599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" y="4663440"/>
            <a:ext cx="4754880" cy="1188720"/>
            <a:chOff x="0" y="0"/>
            <a:chExt cx="633984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39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52400"/>
              <a:ext cx="633984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" y="5852160"/>
            <a:ext cx="4754880" cy="768096"/>
            <a:chOff x="0" y="0"/>
            <a:chExt cx="633984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3398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 CSV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7383" y="7119623"/>
            <a:ext cx="4780283" cy="2219963"/>
            <a:chOff x="0" y="0"/>
            <a:chExt cx="6373711" cy="29599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3398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73622" cy="2959862"/>
            </a:xfrm>
            <a:custGeom>
              <a:avLst/>
              <a:gdLst/>
              <a:ahLst/>
              <a:cxnLst/>
              <a:rect r="r" b="b" t="t" l="l"/>
              <a:pathLst>
                <a:path h="2959862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2942971"/>
                  </a:lnTo>
                  <a:cubicBezTo>
                    <a:pt x="6373622" y="2952369"/>
                    <a:pt x="6366002" y="2959862"/>
                    <a:pt x="635673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6356731" y="2926080"/>
                  </a:lnTo>
                  <a:lnTo>
                    <a:pt x="6356731" y="2942971"/>
                  </a:lnTo>
                  <a:lnTo>
                    <a:pt x="6339840" y="294297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" y="7223760"/>
            <a:ext cx="4754880" cy="1188720"/>
            <a:chOff x="0" y="0"/>
            <a:chExt cx="633984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52400"/>
              <a:ext cx="633984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0080" y="8412480"/>
            <a:ext cx="4754880" cy="768096"/>
            <a:chOff x="0" y="0"/>
            <a:chExt cx="633984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21" r="0" b="-7062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33984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 retenues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943600" y="1920240"/>
            <a:ext cx="11887200" cy="694944"/>
            <a:chOff x="0" y="0"/>
            <a:chExt cx="158496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849600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296" r="0" b="-2832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58496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Schéma des 9 tables :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934075" y="2733675"/>
            <a:ext cx="3493770" cy="1518666"/>
            <a:chOff x="0" y="0"/>
            <a:chExt cx="4658360" cy="20248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930903" y="2730503"/>
            <a:ext cx="3500123" cy="135131"/>
            <a:chOff x="0" y="0"/>
            <a:chExt cx="4666831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943600" y="2926080"/>
            <a:ext cx="3474720" cy="1188720"/>
            <a:chOff x="0" y="0"/>
            <a:chExt cx="4632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683115" y="2733675"/>
            <a:ext cx="3493770" cy="1518666"/>
            <a:chOff x="0" y="0"/>
            <a:chExt cx="4658360" cy="20248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9943" y="2730503"/>
            <a:ext cx="3500123" cy="135131"/>
            <a:chOff x="0" y="0"/>
            <a:chExt cx="4666831" cy="1801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92640" y="2926080"/>
            <a:ext cx="3474720" cy="1188720"/>
            <a:chOff x="0" y="0"/>
            <a:chExt cx="4632960" cy="1584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432155" y="2733675"/>
            <a:ext cx="3493770" cy="1518666"/>
            <a:chOff x="0" y="0"/>
            <a:chExt cx="4658360" cy="20248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428983" y="2730503"/>
            <a:ext cx="3500123" cy="135131"/>
            <a:chOff x="0" y="0"/>
            <a:chExt cx="4666831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441680" y="2926080"/>
            <a:ext cx="3474720" cy="1188720"/>
            <a:chOff x="0" y="0"/>
            <a:chExt cx="4632960" cy="1584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order_items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934075" y="4836795"/>
            <a:ext cx="3493770" cy="1518666"/>
            <a:chOff x="0" y="0"/>
            <a:chExt cx="4658360" cy="20248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930903" y="4833623"/>
            <a:ext cx="3500123" cy="135131"/>
            <a:chOff x="0" y="0"/>
            <a:chExt cx="4666831" cy="18017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943600" y="5029200"/>
            <a:ext cx="3474720" cy="1188720"/>
            <a:chOff x="0" y="0"/>
            <a:chExt cx="4632960" cy="15849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83115" y="4836795"/>
            <a:ext cx="3493770" cy="1518666"/>
            <a:chOff x="0" y="0"/>
            <a:chExt cx="4658360" cy="20248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79943" y="4833623"/>
            <a:ext cx="3500123" cy="135131"/>
            <a:chOff x="0" y="0"/>
            <a:chExt cx="4666831" cy="1801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92640" y="5029200"/>
            <a:ext cx="3474720" cy="1188720"/>
            <a:chOff x="0" y="0"/>
            <a:chExt cx="4632960" cy="1584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32155" y="4836795"/>
            <a:ext cx="3493770" cy="1518666"/>
            <a:chOff x="0" y="0"/>
            <a:chExt cx="4658360" cy="20248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428983" y="4833623"/>
            <a:ext cx="3500123" cy="135131"/>
            <a:chOff x="0" y="0"/>
            <a:chExt cx="4666831" cy="18017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441680" y="5029200"/>
            <a:ext cx="3474720" cy="1188720"/>
            <a:chOff x="0" y="0"/>
            <a:chExt cx="4632960" cy="1584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934075" y="6939915"/>
            <a:ext cx="3493770" cy="1518666"/>
            <a:chOff x="0" y="0"/>
            <a:chExt cx="4658360" cy="20248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930903" y="6936743"/>
            <a:ext cx="3500123" cy="135131"/>
            <a:chOff x="0" y="0"/>
            <a:chExt cx="4666831" cy="18017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943600" y="7132320"/>
            <a:ext cx="3474720" cy="1188720"/>
            <a:chOff x="0" y="0"/>
            <a:chExt cx="4632960" cy="15849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sellers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683115" y="6939915"/>
            <a:ext cx="3493770" cy="1518666"/>
            <a:chOff x="0" y="0"/>
            <a:chExt cx="4658360" cy="20248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679943" y="6936743"/>
            <a:ext cx="3500123" cy="135131"/>
            <a:chOff x="0" y="0"/>
            <a:chExt cx="4666831" cy="18017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692640" y="7132320"/>
            <a:ext cx="3474720" cy="1188720"/>
            <a:chOff x="0" y="0"/>
            <a:chExt cx="4632960" cy="15849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geolocation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432155" y="6939915"/>
            <a:ext cx="3493770" cy="1518666"/>
            <a:chOff x="0" y="0"/>
            <a:chExt cx="4658360" cy="20248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2700" y="12700"/>
              <a:ext cx="46329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658360" cy="2024888"/>
            </a:xfrm>
            <a:custGeom>
              <a:avLst/>
              <a:gdLst/>
              <a:ahLst/>
              <a:cxnLst/>
              <a:rect r="r" b="b" t="t" l="l"/>
              <a:pathLst>
                <a:path h="2024888" w="4658360">
                  <a:moveTo>
                    <a:pt x="12700" y="0"/>
                  </a:moveTo>
                  <a:lnTo>
                    <a:pt x="4645660" y="0"/>
                  </a:lnTo>
                  <a:cubicBezTo>
                    <a:pt x="4652645" y="0"/>
                    <a:pt x="4658360" y="5715"/>
                    <a:pt x="4658360" y="12700"/>
                  </a:cubicBezTo>
                  <a:lnTo>
                    <a:pt x="4658360" y="2012188"/>
                  </a:lnTo>
                  <a:cubicBezTo>
                    <a:pt x="4658360" y="2019173"/>
                    <a:pt x="4652645" y="2024888"/>
                    <a:pt x="4645660" y="2024888"/>
                  </a:cubicBezTo>
                  <a:lnTo>
                    <a:pt x="12700" y="2024888"/>
                  </a:lnTo>
                  <a:cubicBezTo>
                    <a:pt x="5715" y="2024888"/>
                    <a:pt x="0" y="2019173"/>
                    <a:pt x="0" y="201218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12188"/>
                  </a:lnTo>
                  <a:lnTo>
                    <a:pt x="12700" y="2012188"/>
                  </a:lnTo>
                  <a:lnTo>
                    <a:pt x="12700" y="1999488"/>
                  </a:lnTo>
                  <a:lnTo>
                    <a:pt x="4645660" y="1999488"/>
                  </a:lnTo>
                  <a:lnTo>
                    <a:pt x="4645660" y="2012188"/>
                  </a:lnTo>
                  <a:lnTo>
                    <a:pt x="4632960" y="2012188"/>
                  </a:lnTo>
                  <a:lnTo>
                    <a:pt x="4632960" y="12700"/>
                  </a:lnTo>
                  <a:lnTo>
                    <a:pt x="4645660" y="12700"/>
                  </a:lnTo>
                  <a:lnTo>
                    <a:pt x="4645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3428983" y="6936743"/>
            <a:ext cx="3500123" cy="135131"/>
            <a:chOff x="0" y="0"/>
            <a:chExt cx="4666831" cy="18017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4632960" cy="146304"/>
            </a:xfrm>
            <a:custGeom>
              <a:avLst/>
              <a:gdLst/>
              <a:ahLst/>
              <a:cxnLst/>
              <a:rect r="r" b="b" t="t" l="l"/>
              <a:pathLst>
                <a:path h="14630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666742" cy="180088"/>
            </a:xfrm>
            <a:custGeom>
              <a:avLst/>
              <a:gdLst/>
              <a:ahLst/>
              <a:cxnLst/>
              <a:rect r="r" b="b" t="t" l="l"/>
              <a:pathLst>
                <a:path h="180088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63195"/>
                  </a:lnTo>
                  <a:cubicBezTo>
                    <a:pt x="4666742" y="172593"/>
                    <a:pt x="4659122" y="180086"/>
                    <a:pt x="46498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649851" y="146304"/>
                  </a:lnTo>
                  <a:lnTo>
                    <a:pt x="4649851" y="163195"/>
                  </a:lnTo>
                  <a:lnTo>
                    <a:pt x="4632960" y="163195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441680" y="7132320"/>
            <a:ext cx="3474720" cy="1188720"/>
            <a:chOff x="0" y="0"/>
            <a:chExt cx="4632960" cy="15849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632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63296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translation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943600" y="9015984"/>
            <a:ext cx="11887200" cy="640080"/>
            <a:chOff x="0" y="0"/>
            <a:chExt cx="1584960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849600" cy="853440"/>
            </a:xfrm>
            <a:custGeom>
              <a:avLst/>
              <a:gdLst/>
              <a:ahLst/>
              <a:cxnLst/>
              <a:rect r="r" b="b" t="t" l="l"/>
              <a:pathLst>
                <a:path h="8534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5849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🔗 Jointure sur order_id / product_id / customer_id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Chargement &amp; Fusion des Données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src/data_loader.py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9115" y="2002155"/>
            <a:ext cx="4042410" cy="5688330"/>
            <a:chOff x="0" y="0"/>
            <a:chExt cx="5389880" cy="7584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8640" y="2157984"/>
            <a:ext cx="4023360" cy="1188720"/>
            <a:chOff x="0" y="0"/>
            <a:chExt cx="5364480" cy="1584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📂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" y="3438144"/>
            <a:ext cx="3749040" cy="1005840"/>
            <a:chOff x="0" y="0"/>
            <a:chExt cx="499872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load_raw_tables()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" y="4572000"/>
            <a:ext cx="3749040" cy="2834640"/>
            <a:chOff x="0" y="0"/>
            <a:chExt cx="4998720" cy="3779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Charge les 9 CSV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 un dict de DataFrames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95879" y="4742183"/>
            <a:ext cx="263147" cy="98555"/>
            <a:chOff x="0" y="0"/>
            <a:chExt cx="350863" cy="1314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91659" y="2002155"/>
            <a:ext cx="4042410" cy="5688330"/>
            <a:chOff x="0" y="0"/>
            <a:chExt cx="5389880" cy="7584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01184" y="2157984"/>
            <a:ext cx="4023360" cy="1188720"/>
            <a:chOff x="0" y="0"/>
            <a:chExt cx="536448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47488" y="3438144"/>
            <a:ext cx="3749040" cy="1005840"/>
            <a:chOff x="0" y="0"/>
            <a:chExt cx="499872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build_master_dataframe()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47488" y="4572000"/>
            <a:ext cx="3749040" cy="2834640"/>
            <a:chOff x="0" y="0"/>
            <a:chExt cx="4998720" cy="3779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Jointures successives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 order_id / product_id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48423" y="4742183"/>
            <a:ext cx="263147" cy="98555"/>
            <a:chOff x="0" y="0"/>
            <a:chExt cx="350863" cy="13140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44203" y="2002155"/>
            <a:ext cx="4042410" cy="5688330"/>
            <a:chOff x="0" y="0"/>
            <a:chExt cx="5389880" cy="7584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253728" y="2157984"/>
            <a:ext cx="4023360" cy="1188720"/>
            <a:chOff x="0" y="0"/>
            <a:chExt cx="5364480" cy="1584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💾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00032" y="3438144"/>
            <a:ext cx="3749040" cy="1005840"/>
            <a:chOff x="0" y="0"/>
            <a:chExt cx="499872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save_master_dataframe()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00032" y="4572000"/>
            <a:ext cx="3749040" cy="2834640"/>
            <a:chOff x="0" y="0"/>
            <a:chExt cx="4998720" cy="3779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Enregistre master.csv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dans data/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300967" y="4742183"/>
            <a:ext cx="263147" cy="98555"/>
            <a:chOff x="0" y="0"/>
            <a:chExt cx="350863" cy="1314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316992" cy="97536"/>
            </a:xfrm>
            <a:custGeom>
              <a:avLst/>
              <a:gdLst/>
              <a:ahLst/>
              <a:cxnLst/>
              <a:rect r="r" b="b" t="t" l="l"/>
              <a:pathLst>
                <a:path h="97536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50774" cy="131320"/>
            </a:xfrm>
            <a:custGeom>
              <a:avLst/>
              <a:gdLst/>
              <a:ahLst/>
              <a:cxnLst/>
              <a:rect r="r" b="b" t="t" l="l"/>
              <a:pathLst>
                <a:path h="131320" w="350774">
                  <a:moveTo>
                    <a:pt x="16891" y="0"/>
                  </a:moveTo>
                  <a:lnTo>
                    <a:pt x="333883" y="0"/>
                  </a:lnTo>
                  <a:cubicBezTo>
                    <a:pt x="343281" y="0"/>
                    <a:pt x="350774" y="7620"/>
                    <a:pt x="350774" y="16891"/>
                  </a:cubicBezTo>
                  <a:lnTo>
                    <a:pt x="350774" y="114427"/>
                  </a:lnTo>
                  <a:cubicBezTo>
                    <a:pt x="350774" y="123825"/>
                    <a:pt x="343154" y="131318"/>
                    <a:pt x="333883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33883" y="97536"/>
                  </a:lnTo>
                  <a:lnTo>
                    <a:pt x="333883" y="114427"/>
                  </a:lnTo>
                  <a:lnTo>
                    <a:pt x="316992" y="114427"/>
                  </a:lnTo>
                  <a:lnTo>
                    <a:pt x="316992" y="16891"/>
                  </a:lnTo>
                  <a:lnTo>
                    <a:pt x="333883" y="16891"/>
                  </a:lnTo>
                  <a:lnTo>
                    <a:pt x="333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596747" y="2002155"/>
            <a:ext cx="4042410" cy="5688330"/>
            <a:chOff x="0" y="0"/>
            <a:chExt cx="5389880" cy="7584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53644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89880" cy="7584440"/>
            </a:xfrm>
            <a:custGeom>
              <a:avLst/>
              <a:gdLst/>
              <a:ahLst/>
              <a:cxnLst/>
              <a:rect r="r" b="b" t="t" l="l"/>
              <a:pathLst>
                <a:path h="758444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7571740"/>
                  </a:lnTo>
                  <a:cubicBezTo>
                    <a:pt x="5389880" y="7578725"/>
                    <a:pt x="5384165" y="7584440"/>
                    <a:pt x="5377180" y="7584440"/>
                  </a:cubicBezTo>
                  <a:lnTo>
                    <a:pt x="12700" y="7584440"/>
                  </a:lnTo>
                  <a:cubicBezTo>
                    <a:pt x="5715" y="7584440"/>
                    <a:pt x="0" y="7578725"/>
                    <a:pt x="0" y="757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571740"/>
                  </a:lnTo>
                  <a:lnTo>
                    <a:pt x="12700" y="7571740"/>
                  </a:lnTo>
                  <a:lnTo>
                    <a:pt x="12700" y="7559040"/>
                  </a:lnTo>
                  <a:lnTo>
                    <a:pt x="5377180" y="7559040"/>
                  </a:lnTo>
                  <a:lnTo>
                    <a:pt x="5377180" y="7571740"/>
                  </a:lnTo>
                  <a:lnTo>
                    <a:pt x="5364480" y="757174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606272" y="2157984"/>
            <a:ext cx="4023360" cy="1188720"/>
            <a:chOff x="0" y="0"/>
            <a:chExt cx="536448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64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14300"/>
              <a:ext cx="536448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52576" y="3438144"/>
            <a:ext cx="3749040" cy="1005840"/>
            <a:chOff x="0" y="0"/>
            <a:chExt cx="499872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987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9987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load_data()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752576" y="4572000"/>
            <a:ext cx="3749040" cy="2834640"/>
            <a:chOff x="0" y="0"/>
            <a:chExt cx="4998720" cy="3779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9987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010" t="0" r="-47010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99872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Fonction principale :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point d'entrée unique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30555" y="7945755"/>
            <a:ext cx="17026890" cy="1664970"/>
            <a:chOff x="0" y="0"/>
            <a:chExt cx="22702520" cy="2219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2700" y="12700"/>
              <a:ext cx="22677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702520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2207260"/>
                  </a:lnTo>
                  <a:cubicBezTo>
                    <a:pt x="22702520" y="2214245"/>
                    <a:pt x="22696805" y="2219960"/>
                    <a:pt x="22689820" y="2219960"/>
                  </a:cubicBezTo>
                  <a:lnTo>
                    <a:pt x="12700" y="2219960"/>
                  </a:lnTo>
                  <a:cubicBezTo>
                    <a:pt x="5715" y="2219960"/>
                    <a:pt x="0" y="2214245"/>
                    <a:pt x="0" y="2207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207260"/>
                  </a:lnTo>
                  <a:lnTo>
                    <a:pt x="12700" y="2207260"/>
                  </a:lnTo>
                  <a:lnTo>
                    <a:pt x="12700" y="2194560"/>
                  </a:lnTo>
                  <a:lnTo>
                    <a:pt x="22689820" y="2194560"/>
                  </a:lnTo>
                  <a:lnTo>
                    <a:pt x="22689820" y="2207260"/>
                  </a:lnTo>
                  <a:lnTo>
                    <a:pt x="22677120" y="2207260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14400" y="8010144"/>
            <a:ext cx="3657600" cy="640080"/>
            <a:chOff x="0" y="0"/>
            <a:chExt cx="4876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8768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Agrégations clés :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4400" y="8415909"/>
            <a:ext cx="8229600" cy="548640"/>
            <a:chOff x="0" y="0"/>
            <a:chExt cx="1097280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items → item_count, total_price, total_freight (sum)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14400" y="8964549"/>
            <a:ext cx="8229600" cy="548640"/>
            <a:chOff x="0" y="0"/>
            <a:chExt cx="1097280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payments → payment_value (sum), payment_type (mode)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09760" y="8415909"/>
            <a:ext cx="8229600" cy="548640"/>
            <a:chOff x="0" y="0"/>
            <a:chExt cx="109728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reviews → 1 review / commande (la plus récente)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09760" y="8964549"/>
            <a:ext cx="8229600" cy="548640"/>
            <a:chOff x="0" y="0"/>
            <a:chExt cx="109728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products → catégorie, poids, photos du 1er article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Preprocessing &amp; Feature Engineering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src/preprocessing.py — Pipeline complet en 4 étapes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8477" y="1910077"/>
            <a:ext cx="4080253" cy="7701277"/>
            <a:chOff x="0" y="0"/>
            <a:chExt cx="5440337" cy="10268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5943" y="1907543"/>
            <a:ext cx="4085339" cy="976379"/>
            <a:chOff x="0" y="0"/>
            <a:chExt cx="5447119" cy="13018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35559" y="1962407"/>
            <a:ext cx="830075" cy="830075"/>
            <a:chOff x="0" y="0"/>
            <a:chExt cx="1106767" cy="11067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48256" y="1975104"/>
            <a:ext cx="804672" cy="804672"/>
            <a:chOff x="0" y="0"/>
            <a:chExt cx="1072896" cy="10728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8368" y="2962656"/>
            <a:ext cx="3840480" cy="731520"/>
            <a:chOff x="0" y="0"/>
            <a:chExt cx="512064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Nettoyage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1520" y="3840480"/>
            <a:ext cx="3749040" cy="1188720"/>
            <a:chOff x="0" y="0"/>
            <a:chExt cx="4998720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Conversion des 5 colonnes dates → datetime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1520" y="5120640"/>
            <a:ext cx="3749040" cy="1188720"/>
            <a:chOff x="0" y="0"/>
            <a:chExt cx="499872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Filtrage : delivered / canceled / unavailable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1520" y="6400800"/>
            <a:ext cx="3749040" cy="1188720"/>
            <a:chOff x="0" y="0"/>
            <a:chExt cx="499872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Médiane → colonnes numériques manquantes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520" y="7680960"/>
            <a:ext cx="3749040" cy="1188720"/>
            <a:chOff x="0" y="0"/>
            <a:chExt cx="499872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'unknown' → colonnes catégorielles manquantes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91021" y="1910077"/>
            <a:ext cx="4080253" cy="7701277"/>
            <a:chOff x="0" y="0"/>
            <a:chExt cx="5440337" cy="102683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88487" y="1907543"/>
            <a:ext cx="4085339" cy="976379"/>
            <a:chOff x="0" y="0"/>
            <a:chExt cx="5447119" cy="13018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388103" y="1962407"/>
            <a:ext cx="830075" cy="830075"/>
            <a:chOff x="0" y="0"/>
            <a:chExt cx="1106767" cy="11067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400800" y="1975104"/>
            <a:ext cx="804672" cy="804672"/>
            <a:chOff x="0" y="0"/>
            <a:chExt cx="1072896" cy="10728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010912" y="2962656"/>
            <a:ext cx="3840480" cy="731520"/>
            <a:chOff x="0" y="0"/>
            <a:chExt cx="512064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84064" y="3840480"/>
            <a:ext cx="3749040" cy="1188720"/>
            <a:chOff x="0" y="0"/>
            <a:chExt cx="499872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freight_ratio = total_freight / total_price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84064" y="5120640"/>
            <a:ext cx="3749040" cy="1188720"/>
            <a:chOff x="0" y="0"/>
            <a:chExt cx="4998720" cy="1584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price_per_item = total_price / item_count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084064" y="6400800"/>
            <a:ext cx="3749040" cy="1188720"/>
            <a:chOff x="0" y="0"/>
            <a:chExt cx="499872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purchase_month (saisonnalité)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84064" y="7680960"/>
            <a:ext cx="3749040" cy="1188720"/>
            <a:chOff x="0" y="0"/>
            <a:chExt cx="4998720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purchase_day_of_week (comportement)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243565" y="1910077"/>
            <a:ext cx="4080253" cy="7701277"/>
            <a:chOff x="0" y="0"/>
            <a:chExt cx="5440337" cy="1026836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241031" y="1907543"/>
            <a:ext cx="4085339" cy="976379"/>
            <a:chOff x="0" y="0"/>
            <a:chExt cx="5447119" cy="130183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740647" y="1962407"/>
            <a:ext cx="830075" cy="830075"/>
            <a:chOff x="0" y="0"/>
            <a:chExt cx="1106767" cy="110676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753344" y="1975104"/>
            <a:ext cx="804672" cy="804672"/>
            <a:chOff x="0" y="0"/>
            <a:chExt cx="1072896" cy="10728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63456" y="2962656"/>
            <a:ext cx="3840480" cy="731520"/>
            <a:chOff x="0" y="0"/>
            <a:chExt cx="5120640" cy="9753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Encodage &amp; Cible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436608" y="3840480"/>
            <a:ext cx="3749040" cy="1188720"/>
            <a:chOff x="0" y="0"/>
            <a:chExt cx="4998720" cy="1584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LabelEncoder : payment_type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436608" y="5120640"/>
            <a:ext cx="3749040" cy="1188720"/>
            <a:chOff x="0" y="0"/>
            <a:chExt cx="4998720" cy="1584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LabelEncoder : customer_state (27 états)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36608" y="6400800"/>
            <a:ext cx="3749040" cy="1188720"/>
            <a:chOff x="0" y="0"/>
            <a:chExt cx="4998720" cy="15849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LabelEncoder : product_category (70+ catégories)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36608" y="7680960"/>
            <a:ext cx="3749040" cy="1188720"/>
            <a:chOff x="0" y="0"/>
            <a:chExt cx="4998720" cy="1584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Cible : is_return_refund_risk (0 ou 1)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596109" y="1910077"/>
            <a:ext cx="4080253" cy="7701277"/>
            <a:chOff x="0" y="0"/>
            <a:chExt cx="5440337" cy="1026836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3589" y="13589"/>
              <a:ext cx="5413248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440426" cy="10268458"/>
            </a:xfrm>
            <a:custGeom>
              <a:avLst/>
              <a:gdLst/>
              <a:ahLst/>
              <a:cxnLst/>
              <a:rect r="r" b="b" t="t" l="l"/>
              <a:pathLst>
                <a:path h="1026845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10254869"/>
                  </a:lnTo>
                  <a:cubicBezTo>
                    <a:pt x="5440426" y="10262362"/>
                    <a:pt x="5434330" y="10268458"/>
                    <a:pt x="5426837" y="10268458"/>
                  </a:cubicBezTo>
                  <a:lnTo>
                    <a:pt x="13589" y="10268458"/>
                  </a:lnTo>
                  <a:cubicBezTo>
                    <a:pt x="6096" y="10268458"/>
                    <a:pt x="0" y="10262362"/>
                    <a:pt x="0" y="1025486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254869"/>
                  </a:lnTo>
                  <a:lnTo>
                    <a:pt x="13589" y="10254869"/>
                  </a:lnTo>
                  <a:lnTo>
                    <a:pt x="13589" y="10241280"/>
                  </a:lnTo>
                  <a:lnTo>
                    <a:pt x="5426837" y="10241280"/>
                  </a:lnTo>
                  <a:lnTo>
                    <a:pt x="5426837" y="10254869"/>
                  </a:lnTo>
                  <a:lnTo>
                    <a:pt x="5413248" y="1025486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593575" y="1907543"/>
            <a:ext cx="4085339" cy="976379"/>
            <a:chOff x="0" y="0"/>
            <a:chExt cx="5447119" cy="130183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54132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447030" cy="1301750"/>
            </a:xfrm>
            <a:custGeom>
              <a:avLst/>
              <a:gdLst/>
              <a:ahLst/>
              <a:cxnLst/>
              <a:rect r="r" b="b" t="t" l="l"/>
              <a:pathLst>
                <a:path h="1301750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284859"/>
                  </a:lnTo>
                  <a:cubicBezTo>
                    <a:pt x="5447030" y="1294257"/>
                    <a:pt x="5439410" y="1301750"/>
                    <a:pt x="543013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5430139" y="1267968"/>
                  </a:lnTo>
                  <a:lnTo>
                    <a:pt x="5430139" y="1284859"/>
                  </a:lnTo>
                  <a:lnTo>
                    <a:pt x="5413248" y="128485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093191" y="1962407"/>
            <a:ext cx="830075" cy="830075"/>
            <a:chOff x="0" y="0"/>
            <a:chExt cx="1106767" cy="110676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105888" y="1975104"/>
            <a:ext cx="804672" cy="804672"/>
            <a:chOff x="0" y="0"/>
            <a:chExt cx="1072896" cy="10728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716000" y="2962656"/>
            <a:ext cx="3840480" cy="731520"/>
            <a:chOff x="0" y="0"/>
            <a:chExt cx="5120640" cy="9753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20640" cy="975360"/>
            </a:xfrm>
            <a:custGeom>
              <a:avLst/>
              <a:gdLst/>
              <a:ahLst/>
              <a:cxnLst/>
              <a:rect r="r" b="b" t="t" l="l"/>
              <a:pathLst>
                <a:path h="975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5120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 &amp; Scaling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789152" y="3840480"/>
            <a:ext cx="3749040" cy="1188720"/>
            <a:chOff x="0" y="0"/>
            <a:chExt cx="4998720" cy="15849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Train/Test 80/20 stratifié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789152" y="5120640"/>
            <a:ext cx="3749040" cy="1188720"/>
            <a:chOff x="0" y="0"/>
            <a:chExt cx="4998720" cy="15849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StandardScaler fit sur train uniquement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789152" y="6400800"/>
            <a:ext cx="3749040" cy="1188720"/>
            <a:chOff x="0" y="0"/>
            <a:chExt cx="4998720" cy="15849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Évite le data leakage sur le test set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789152" y="7680960"/>
            <a:ext cx="3749040" cy="1188720"/>
            <a:chOff x="0" y="0"/>
            <a:chExt cx="4998720" cy="15849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14 features finales sélectionnées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Modélisation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src/modeling.py — 4 classifieurs comparés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8477" y="1910077"/>
            <a:ext cx="4080253" cy="4226557"/>
            <a:chOff x="0" y="0"/>
            <a:chExt cx="5440337" cy="56354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589" y="1358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0426" cy="5635498"/>
            </a:xfrm>
            <a:custGeom>
              <a:avLst/>
              <a:gdLst/>
              <a:ahLst/>
              <a:cxnLst/>
              <a:rect r="r" b="b" t="t" l="l"/>
              <a:pathLst>
                <a:path h="563549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5621909"/>
                  </a:lnTo>
                  <a:cubicBezTo>
                    <a:pt x="5440426" y="5629402"/>
                    <a:pt x="5434330" y="5635498"/>
                    <a:pt x="5426837" y="5635498"/>
                  </a:cubicBezTo>
                  <a:lnTo>
                    <a:pt x="13589" y="5635498"/>
                  </a:lnTo>
                  <a:cubicBezTo>
                    <a:pt x="6096" y="5635498"/>
                    <a:pt x="0" y="5629402"/>
                    <a:pt x="0" y="5621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621909"/>
                  </a:lnTo>
                  <a:lnTo>
                    <a:pt x="13589" y="5621909"/>
                  </a:lnTo>
                  <a:lnTo>
                    <a:pt x="13589" y="5608320"/>
                  </a:lnTo>
                  <a:lnTo>
                    <a:pt x="5426837" y="5608320"/>
                  </a:lnTo>
                  <a:lnTo>
                    <a:pt x="5426837" y="5621909"/>
                  </a:lnTo>
                  <a:lnTo>
                    <a:pt x="5413248" y="562190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89255" y="2145287"/>
            <a:ext cx="1342139" cy="1342139"/>
            <a:chOff x="0" y="0"/>
            <a:chExt cx="1789519" cy="17895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01952" y="2157984"/>
            <a:ext cx="1316736" cy="1316736"/>
            <a:chOff x="0" y="0"/>
            <a:chExt cx="1755648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8368" y="3621024"/>
            <a:ext cx="3840480" cy="1188720"/>
            <a:chOff x="0" y="0"/>
            <a:chExt cx="51206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Régression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Logistique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4944" y="4846320"/>
            <a:ext cx="3767328" cy="1133856"/>
            <a:chOff x="0" y="0"/>
            <a:chExt cx="5023104" cy="15118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 linéaire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 &amp; interprétable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91021" y="1910077"/>
            <a:ext cx="4080253" cy="4226557"/>
            <a:chOff x="0" y="0"/>
            <a:chExt cx="5440337" cy="56354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3589" y="1358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40426" cy="5635498"/>
            </a:xfrm>
            <a:custGeom>
              <a:avLst/>
              <a:gdLst/>
              <a:ahLst/>
              <a:cxnLst/>
              <a:rect r="r" b="b" t="t" l="l"/>
              <a:pathLst>
                <a:path h="563549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5621909"/>
                  </a:lnTo>
                  <a:cubicBezTo>
                    <a:pt x="5440426" y="5629402"/>
                    <a:pt x="5434330" y="5635498"/>
                    <a:pt x="5426837" y="5635498"/>
                  </a:cubicBezTo>
                  <a:lnTo>
                    <a:pt x="13589" y="5635498"/>
                  </a:lnTo>
                  <a:cubicBezTo>
                    <a:pt x="6096" y="5635498"/>
                    <a:pt x="0" y="5629402"/>
                    <a:pt x="0" y="5621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621909"/>
                  </a:lnTo>
                  <a:lnTo>
                    <a:pt x="13589" y="5621909"/>
                  </a:lnTo>
                  <a:lnTo>
                    <a:pt x="13589" y="5608320"/>
                  </a:lnTo>
                  <a:lnTo>
                    <a:pt x="5426837" y="5608320"/>
                  </a:lnTo>
                  <a:lnTo>
                    <a:pt x="5426837" y="5621909"/>
                  </a:lnTo>
                  <a:lnTo>
                    <a:pt x="5413248" y="562190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41799" y="2145287"/>
            <a:ext cx="1342139" cy="1342139"/>
            <a:chOff x="0" y="0"/>
            <a:chExt cx="1789519" cy="17895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54496" y="2157984"/>
            <a:ext cx="1316736" cy="1316736"/>
            <a:chOff x="0" y="0"/>
            <a:chExt cx="1755648" cy="17556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10912" y="3621024"/>
            <a:ext cx="3840480" cy="1188720"/>
            <a:chOff x="0" y="0"/>
            <a:chExt cx="512064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Arbre de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Décision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47488" y="4846320"/>
            <a:ext cx="3767328" cy="1133856"/>
            <a:chOff x="0" y="0"/>
            <a:chExt cx="5023104" cy="151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Règles hiérarchiques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Interprétable visuellement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28325" y="1894837"/>
            <a:ext cx="4110733" cy="4257037"/>
            <a:chOff x="0" y="0"/>
            <a:chExt cx="5480977" cy="567604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33909" y="3390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D2F1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1066" cy="5676138"/>
            </a:xfrm>
            <a:custGeom>
              <a:avLst/>
              <a:gdLst/>
              <a:ahLst/>
              <a:cxnLst/>
              <a:rect r="r" b="b" t="t" l="l"/>
              <a:pathLst>
                <a:path h="5676138" w="5481066">
                  <a:moveTo>
                    <a:pt x="33909" y="0"/>
                  </a:moveTo>
                  <a:lnTo>
                    <a:pt x="5447157" y="0"/>
                  </a:lnTo>
                  <a:cubicBezTo>
                    <a:pt x="5465826" y="0"/>
                    <a:pt x="5481066" y="15113"/>
                    <a:pt x="5481066" y="33909"/>
                  </a:cubicBezTo>
                  <a:lnTo>
                    <a:pt x="5481066" y="5642229"/>
                  </a:lnTo>
                  <a:cubicBezTo>
                    <a:pt x="5481066" y="5660898"/>
                    <a:pt x="5465953" y="5676138"/>
                    <a:pt x="5447157" y="5676138"/>
                  </a:cubicBezTo>
                  <a:lnTo>
                    <a:pt x="33909" y="5676138"/>
                  </a:lnTo>
                  <a:cubicBezTo>
                    <a:pt x="15240" y="5676138"/>
                    <a:pt x="0" y="5661025"/>
                    <a:pt x="0" y="564222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5642229"/>
                  </a:lnTo>
                  <a:lnTo>
                    <a:pt x="33909" y="5642229"/>
                  </a:lnTo>
                  <a:lnTo>
                    <a:pt x="33909" y="5608320"/>
                  </a:lnTo>
                  <a:lnTo>
                    <a:pt x="5447157" y="5608320"/>
                  </a:lnTo>
                  <a:lnTo>
                    <a:pt x="5447157" y="5642229"/>
                  </a:lnTo>
                  <a:lnTo>
                    <a:pt x="5413248" y="5642229"/>
                  </a:lnTo>
                  <a:lnTo>
                    <a:pt x="5413248" y="33909"/>
                  </a:lnTo>
                  <a:lnTo>
                    <a:pt x="5447157" y="33909"/>
                  </a:lnTo>
                  <a:lnTo>
                    <a:pt x="5447157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241031" y="1907543"/>
            <a:ext cx="4085339" cy="135131"/>
            <a:chOff x="0" y="0"/>
            <a:chExt cx="5447119" cy="1801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413248" cy="146304"/>
            </a:xfrm>
            <a:custGeom>
              <a:avLst/>
              <a:gdLst/>
              <a:ahLst/>
              <a:cxnLst/>
              <a:rect r="r" b="b" t="t" l="l"/>
              <a:pathLst>
                <a:path h="146304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47030" cy="180088"/>
            </a:xfrm>
            <a:custGeom>
              <a:avLst/>
              <a:gdLst/>
              <a:ahLst/>
              <a:cxnLst/>
              <a:rect r="r" b="b" t="t" l="l"/>
              <a:pathLst>
                <a:path h="180088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63195"/>
                  </a:lnTo>
                  <a:cubicBezTo>
                    <a:pt x="5447030" y="172593"/>
                    <a:pt x="5439410" y="180086"/>
                    <a:pt x="543013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430139" y="146304"/>
                  </a:lnTo>
                  <a:lnTo>
                    <a:pt x="5430139" y="163195"/>
                  </a:lnTo>
                  <a:lnTo>
                    <a:pt x="5413248" y="163195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594343" y="2145287"/>
            <a:ext cx="1342139" cy="1342139"/>
            <a:chOff x="0" y="0"/>
            <a:chExt cx="1789519" cy="17895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607040" y="2157984"/>
            <a:ext cx="1316736" cy="1316736"/>
            <a:chOff x="0" y="0"/>
            <a:chExt cx="1755648" cy="17556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63456" y="3621024"/>
            <a:ext cx="3840480" cy="1188720"/>
            <a:chOff x="0" y="0"/>
            <a:chExt cx="512064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Forest 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00032" y="4846320"/>
            <a:ext cx="3767328" cy="1133856"/>
            <a:chOff x="0" y="0"/>
            <a:chExt cx="5023104" cy="15118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D4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Ensemble de 100 arbres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D4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Robuste &amp; précis — SÉLECTIONNÉ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596109" y="1910077"/>
            <a:ext cx="4080253" cy="4226557"/>
            <a:chOff x="0" y="0"/>
            <a:chExt cx="5440337" cy="563540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3589" y="13589"/>
              <a:ext cx="5413248" cy="5608320"/>
            </a:xfrm>
            <a:custGeom>
              <a:avLst/>
              <a:gdLst/>
              <a:ahLst/>
              <a:cxnLst/>
              <a:rect r="r" b="b" t="t" l="l"/>
              <a:pathLst>
                <a:path h="560832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40426" cy="5635498"/>
            </a:xfrm>
            <a:custGeom>
              <a:avLst/>
              <a:gdLst/>
              <a:ahLst/>
              <a:cxnLst/>
              <a:rect r="r" b="b" t="t" l="l"/>
              <a:pathLst>
                <a:path h="5635498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5621909"/>
                  </a:lnTo>
                  <a:cubicBezTo>
                    <a:pt x="5440426" y="5629402"/>
                    <a:pt x="5434330" y="5635498"/>
                    <a:pt x="5426837" y="5635498"/>
                  </a:cubicBezTo>
                  <a:lnTo>
                    <a:pt x="13589" y="5635498"/>
                  </a:lnTo>
                  <a:cubicBezTo>
                    <a:pt x="6096" y="5635498"/>
                    <a:pt x="0" y="5629402"/>
                    <a:pt x="0" y="56219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5621909"/>
                  </a:lnTo>
                  <a:lnTo>
                    <a:pt x="13589" y="5621909"/>
                  </a:lnTo>
                  <a:lnTo>
                    <a:pt x="13589" y="5608320"/>
                  </a:lnTo>
                  <a:lnTo>
                    <a:pt x="5426837" y="5608320"/>
                  </a:lnTo>
                  <a:lnTo>
                    <a:pt x="5426837" y="5621909"/>
                  </a:lnTo>
                  <a:lnTo>
                    <a:pt x="5413248" y="5621909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946887" y="2145287"/>
            <a:ext cx="1342139" cy="1342139"/>
            <a:chOff x="0" y="0"/>
            <a:chExt cx="1789519" cy="17895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959584" y="2157984"/>
            <a:ext cx="1316736" cy="1316736"/>
            <a:chOff x="0" y="0"/>
            <a:chExt cx="1755648" cy="17556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755648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716000" y="3621024"/>
            <a:ext cx="3840480" cy="1188720"/>
            <a:chOff x="0" y="0"/>
            <a:chExt cx="5120640" cy="1584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1206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752576" y="4846320"/>
            <a:ext cx="3767328" cy="1133856"/>
            <a:chOff x="0" y="0"/>
            <a:chExt cx="5023104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023104" cy="1511808"/>
            </a:xfrm>
            <a:custGeom>
              <a:avLst/>
              <a:gdLst/>
              <a:ahLst/>
              <a:cxnLst/>
              <a:rect r="r" b="b" t="t" l="l"/>
              <a:pathLst>
                <a:path h="1511808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0" r="0" b="-147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023104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 Boosting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Haute performance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30555" y="6391275"/>
            <a:ext cx="17026890" cy="3219450"/>
            <a:chOff x="0" y="0"/>
            <a:chExt cx="22702520" cy="4292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2700" y="12700"/>
              <a:ext cx="226771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702520" cy="4292600"/>
            </a:xfrm>
            <a:custGeom>
              <a:avLst/>
              <a:gdLst/>
              <a:ahLst/>
              <a:cxnLst/>
              <a:rect r="r" b="b" t="t" l="l"/>
              <a:pathLst>
                <a:path h="4292600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4279900"/>
                  </a:lnTo>
                  <a:cubicBezTo>
                    <a:pt x="22702520" y="4286885"/>
                    <a:pt x="22696805" y="4292600"/>
                    <a:pt x="22689820" y="4292600"/>
                  </a:cubicBezTo>
                  <a:lnTo>
                    <a:pt x="12700" y="4292600"/>
                  </a:lnTo>
                  <a:cubicBezTo>
                    <a:pt x="5715" y="4292600"/>
                    <a:pt x="0" y="4286885"/>
                    <a:pt x="0" y="4279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279900"/>
                  </a:lnTo>
                  <a:lnTo>
                    <a:pt x="12700" y="4279900"/>
                  </a:lnTo>
                  <a:lnTo>
                    <a:pt x="12700" y="4267200"/>
                  </a:lnTo>
                  <a:lnTo>
                    <a:pt x="22689820" y="4267200"/>
                  </a:lnTo>
                  <a:lnTo>
                    <a:pt x="22689820" y="4279900"/>
                  </a:lnTo>
                  <a:lnTo>
                    <a:pt x="22677120" y="4279900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14400" y="6492240"/>
            <a:ext cx="16459200" cy="694944"/>
            <a:chOff x="0" y="0"/>
            <a:chExt cx="2194560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Protocole d'entraînement (src/preprocessing.py)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14400" y="7260336"/>
            <a:ext cx="365760" cy="694944"/>
            <a:chOff x="0" y="0"/>
            <a:chExt cx="48768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88720" y="7260336"/>
            <a:ext cx="3108960" cy="694944"/>
            <a:chOff x="0" y="0"/>
            <a:chExt cx="414528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Split stratifié 80/20 : 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297680" y="7260336"/>
            <a:ext cx="5303520" cy="694944"/>
            <a:chOff x="0" y="0"/>
            <a:chExt cx="707136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stratify=y garantit la proportion de classes dans chaque ensemble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14400" y="8266176"/>
            <a:ext cx="365760" cy="694944"/>
            <a:chOff x="0" y="0"/>
            <a:chExt cx="487680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88720" y="8266176"/>
            <a:ext cx="3108960" cy="694944"/>
            <a:chOff x="0" y="0"/>
            <a:chExt cx="414528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StandardScaler : 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297680" y="8266176"/>
            <a:ext cx="5303520" cy="694944"/>
            <a:chOff x="0" y="0"/>
            <a:chExt cx="7071360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fit_transform(X_train) · transform(X_test) → évite le data leakage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601200" y="7260336"/>
            <a:ext cx="365760" cy="694944"/>
            <a:chOff x="0" y="0"/>
            <a:chExt cx="487680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875520" y="7260336"/>
            <a:ext cx="3108960" cy="694944"/>
            <a:chOff x="0" y="0"/>
            <a:chExt cx="4145280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Métriques cibles : 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710160" y="7260336"/>
            <a:ext cx="5303520" cy="694944"/>
            <a:chOff x="0" y="0"/>
            <a:chExt cx="7071360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· F1-Score (weighted) · AUC-ROC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601200" y="8266176"/>
            <a:ext cx="365760" cy="694944"/>
            <a:chOff x="0" y="0"/>
            <a:chExt cx="487680" cy="92659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8768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776" t="0" r="-193776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4876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875520" y="8266176"/>
            <a:ext cx="3108960" cy="694944"/>
            <a:chOff x="0" y="0"/>
            <a:chExt cx="4145280" cy="9265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41452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evaluate_model() : 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710160" y="8266176"/>
            <a:ext cx="5303520" cy="694944"/>
            <a:chOff x="0" y="0"/>
            <a:chExt cx="7071360" cy="92659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src/evaluation.py : rapport complet + confusion matrix + ROC curves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35727" y="267967"/>
            <a:ext cx="1292857" cy="597913"/>
            <a:chOff x="0" y="0"/>
            <a:chExt cx="1723809" cy="797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898" cy="797306"/>
            </a:xfrm>
            <a:custGeom>
              <a:avLst/>
              <a:gdLst/>
              <a:ahLst/>
              <a:cxnLst/>
              <a:rect r="r" b="b" t="t" l="l"/>
              <a:pathLst>
                <a:path h="797306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788797"/>
                  </a:lnTo>
                  <a:cubicBezTo>
                    <a:pt x="1723898" y="793496"/>
                    <a:pt x="1720088" y="797306"/>
                    <a:pt x="1715389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1715389" y="780288"/>
                  </a:lnTo>
                  <a:lnTo>
                    <a:pt x="1715389" y="788797"/>
                  </a:lnTo>
                  <a:lnTo>
                    <a:pt x="1706880" y="788797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— Comparaison des Modèles &amp; Cross-Validation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1133856"/>
            <a:ext cx="15727680" cy="512064"/>
            <a:chOff x="0" y="0"/>
            <a:chExt cx="209702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src/evaluation.py · compare_models() + cross_validate()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688087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920240"/>
            <a:ext cx="9601200" cy="603504"/>
            <a:chOff x="0" y="0"/>
            <a:chExt cx="12801600" cy="804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0" cy="804672"/>
            </a:xfrm>
            <a:custGeom>
              <a:avLst/>
              <a:gdLst/>
              <a:ahLst/>
              <a:cxnLst/>
              <a:rect r="r" b="b" t="t" l="l"/>
              <a:pathLst>
                <a:path h="804672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80160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Comparaison Test Set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7383" y="2584199"/>
            <a:ext cx="9626603" cy="830075"/>
            <a:chOff x="0" y="0"/>
            <a:chExt cx="12835471" cy="11067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2801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3538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2835382">
                  <a:moveTo>
                    <a:pt x="16891" y="0"/>
                  </a:moveTo>
                  <a:lnTo>
                    <a:pt x="12818491" y="0"/>
                  </a:lnTo>
                  <a:cubicBezTo>
                    <a:pt x="12827889" y="0"/>
                    <a:pt x="12835382" y="7620"/>
                    <a:pt x="12835382" y="16891"/>
                  </a:cubicBezTo>
                  <a:lnTo>
                    <a:pt x="12835382" y="1089787"/>
                  </a:lnTo>
                  <a:cubicBezTo>
                    <a:pt x="12835382" y="1099185"/>
                    <a:pt x="12827762" y="1106678"/>
                    <a:pt x="1281849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2818491" y="1072896"/>
                  </a:lnTo>
                  <a:lnTo>
                    <a:pt x="12818491" y="1089787"/>
                  </a:lnTo>
                  <a:lnTo>
                    <a:pt x="12801600" y="1089787"/>
                  </a:lnTo>
                  <a:lnTo>
                    <a:pt x="12801600" y="16891"/>
                  </a:lnTo>
                  <a:lnTo>
                    <a:pt x="12818491" y="16891"/>
                  </a:lnTo>
                  <a:lnTo>
                    <a:pt x="12818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" y="2596896"/>
            <a:ext cx="3840480" cy="804672"/>
            <a:chOff x="0" y="0"/>
            <a:chExt cx="5120640" cy="10728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12064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80560" y="2596896"/>
            <a:ext cx="1920240" cy="804672"/>
            <a:chOff x="0" y="0"/>
            <a:chExt cx="2560320" cy="10728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65" t="0" r="-376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5603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0" y="2596896"/>
            <a:ext cx="1920240" cy="804672"/>
            <a:chOff x="0" y="0"/>
            <a:chExt cx="2560320" cy="1072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65" t="0" r="-376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5603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321040" y="2596896"/>
            <a:ext cx="1920240" cy="804672"/>
            <a:chOff x="0" y="0"/>
            <a:chExt cx="2560320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65" t="0" r="-376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5603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AUC-ROC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4840" y="3386328"/>
            <a:ext cx="9631680" cy="1018032"/>
            <a:chOff x="0" y="0"/>
            <a:chExt cx="12842240" cy="13573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0320" y="20320"/>
              <a:ext cx="12801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D2F1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42240" cy="1357376"/>
            </a:xfrm>
            <a:custGeom>
              <a:avLst/>
              <a:gdLst/>
              <a:ahLst/>
              <a:cxnLst/>
              <a:rect r="r" b="b" t="t" l="l"/>
              <a:pathLst>
                <a:path h="1357376" w="12842240">
                  <a:moveTo>
                    <a:pt x="20320" y="0"/>
                  </a:moveTo>
                  <a:lnTo>
                    <a:pt x="12821920" y="0"/>
                  </a:lnTo>
                  <a:cubicBezTo>
                    <a:pt x="12833096" y="0"/>
                    <a:pt x="12842240" y="9144"/>
                    <a:pt x="12842240" y="20320"/>
                  </a:cubicBezTo>
                  <a:lnTo>
                    <a:pt x="12842240" y="1337056"/>
                  </a:lnTo>
                  <a:cubicBezTo>
                    <a:pt x="12842240" y="1348232"/>
                    <a:pt x="12833096" y="1357376"/>
                    <a:pt x="12821920" y="1357376"/>
                  </a:cubicBezTo>
                  <a:lnTo>
                    <a:pt x="20320" y="1357376"/>
                  </a:lnTo>
                  <a:cubicBezTo>
                    <a:pt x="9144" y="1357376"/>
                    <a:pt x="0" y="1348232"/>
                    <a:pt x="0" y="1337056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1337056"/>
                  </a:lnTo>
                  <a:lnTo>
                    <a:pt x="20320" y="1337056"/>
                  </a:lnTo>
                  <a:lnTo>
                    <a:pt x="20320" y="1316736"/>
                  </a:lnTo>
                  <a:lnTo>
                    <a:pt x="12821920" y="1316736"/>
                  </a:lnTo>
                  <a:lnTo>
                    <a:pt x="12821920" y="1337056"/>
                  </a:lnTo>
                  <a:lnTo>
                    <a:pt x="12801600" y="1337056"/>
                  </a:lnTo>
                  <a:lnTo>
                    <a:pt x="12801600" y="20320"/>
                  </a:lnTo>
                  <a:lnTo>
                    <a:pt x="12821920" y="20320"/>
                  </a:lnTo>
                  <a:lnTo>
                    <a:pt x="1282192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22960" y="3401568"/>
            <a:ext cx="3657600" cy="987552"/>
            <a:chOff x="0" y="0"/>
            <a:chExt cx="4876800" cy="13167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66" r="0" b="-221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876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★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80560" y="3456432"/>
            <a:ext cx="1920240" cy="457200"/>
            <a:chOff x="0" y="0"/>
            <a:chExt cx="256032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99.55%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614167" y="4010663"/>
            <a:ext cx="1634747" cy="208283"/>
            <a:chOff x="0" y="0"/>
            <a:chExt cx="2179663" cy="2777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145792" cy="243840"/>
            </a:xfrm>
            <a:custGeom>
              <a:avLst/>
              <a:gdLst/>
              <a:ahLst/>
              <a:cxnLst/>
              <a:rect r="r" b="b" t="t" l="l"/>
              <a:pathLst>
                <a:path h="243840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79574" cy="277624"/>
            </a:xfrm>
            <a:custGeom>
              <a:avLst/>
              <a:gdLst/>
              <a:ahLst/>
              <a:cxnLst/>
              <a:rect r="r" b="b" t="t" l="l"/>
              <a:pathLst>
                <a:path h="277624" w="2179574">
                  <a:moveTo>
                    <a:pt x="16891" y="0"/>
                  </a:moveTo>
                  <a:lnTo>
                    <a:pt x="2162683" y="0"/>
                  </a:lnTo>
                  <a:cubicBezTo>
                    <a:pt x="2172081" y="0"/>
                    <a:pt x="2179574" y="7620"/>
                    <a:pt x="2179574" y="16891"/>
                  </a:cubicBezTo>
                  <a:lnTo>
                    <a:pt x="2179574" y="260731"/>
                  </a:lnTo>
                  <a:cubicBezTo>
                    <a:pt x="2179574" y="270129"/>
                    <a:pt x="2171954" y="277622"/>
                    <a:pt x="216268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162683" y="243840"/>
                  </a:lnTo>
                  <a:lnTo>
                    <a:pt x="2162683" y="260731"/>
                  </a:lnTo>
                  <a:lnTo>
                    <a:pt x="2145792" y="260731"/>
                  </a:lnTo>
                  <a:lnTo>
                    <a:pt x="2145792" y="16891"/>
                  </a:lnTo>
                  <a:lnTo>
                    <a:pt x="2162683" y="16891"/>
                  </a:lnTo>
                  <a:lnTo>
                    <a:pt x="21626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00800" y="3456432"/>
            <a:ext cx="1920240" cy="457200"/>
            <a:chOff x="0" y="0"/>
            <a:chExt cx="256032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99.51%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34407" y="4010663"/>
            <a:ext cx="1634747" cy="208283"/>
            <a:chOff x="0" y="0"/>
            <a:chExt cx="2179663" cy="277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145792" cy="243840"/>
            </a:xfrm>
            <a:custGeom>
              <a:avLst/>
              <a:gdLst/>
              <a:ahLst/>
              <a:cxnLst/>
              <a:rect r="r" b="b" t="t" l="l"/>
              <a:pathLst>
                <a:path h="243840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79574" cy="277624"/>
            </a:xfrm>
            <a:custGeom>
              <a:avLst/>
              <a:gdLst/>
              <a:ahLst/>
              <a:cxnLst/>
              <a:rect r="r" b="b" t="t" l="l"/>
              <a:pathLst>
                <a:path h="277624" w="2179574">
                  <a:moveTo>
                    <a:pt x="16891" y="0"/>
                  </a:moveTo>
                  <a:lnTo>
                    <a:pt x="2162683" y="0"/>
                  </a:lnTo>
                  <a:cubicBezTo>
                    <a:pt x="2172081" y="0"/>
                    <a:pt x="2179574" y="7620"/>
                    <a:pt x="2179574" y="16891"/>
                  </a:cubicBezTo>
                  <a:lnTo>
                    <a:pt x="2179574" y="260731"/>
                  </a:lnTo>
                  <a:cubicBezTo>
                    <a:pt x="2179574" y="270129"/>
                    <a:pt x="2171954" y="277622"/>
                    <a:pt x="216268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162683" y="243840"/>
                  </a:lnTo>
                  <a:lnTo>
                    <a:pt x="2162683" y="260731"/>
                  </a:lnTo>
                  <a:lnTo>
                    <a:pt x="2145792" y="260731"/>
                  </a:lnTo>
                  <a:lnTo>
                    <a:pt x="2145792" y="16891"/>
                  </a:lnTo>
                  <a:lnTo>
                    <a:pt x="2162683" y="16891"/>
                  </a:lnTo>
                  <a:lnTo>
                    <a:pt x="21626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321040" y="3456432"/>
            <a:ext cx="1920240" cy="457200"/>
            <a:chOff x="0" y="0"/>
            <a:chExt cx="256032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0.8939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454647" y="4010663"/>
            <a:ext cx="1634747" cy="208283"/>
            <a:chOff x="0" y="0"/>
            <a:chExt cx="2179663" cy="2777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145792" cy="243840"/>
            </a:xfrm>
            <a:custGeom>
              <a:avLst/>
              <a:gdLst/>
              <a:ahLst/>
              <a:cxnLst/>
              <a:rect r="r" b="b" t="t" l="l"/>
              <a:pathLst>
                <a:path h="243840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79574" cy="277624"/>
            </a:xfrm>
            <a:custGeom>
              <a:avLst/>
              <a:gdLst/>
              <a:ahLst/>
              <a:cxnLst/>
              <a:rect r="r" b="b" t="t" l="l"/>
              <a:pathLst>
                <a:path h="277624" w="2179574">
                  <a:moveTo>
                    <a:pt x="16891" y="0"/>
                  </a:moveTo>
                  <a:lnTo>
                    <a:pt x="2162683" y="0"/>
                  </a:lnTo>
                  <a:cubicBezTo>
                    <a:pt x="2172081" y="0"/>
                    <a:pt x="2179574" y="7620"/>
                    <a:pt x="2179574" y="16891"/>
                  </a:cubicBezTo>
                  <a:lnTo>
                    <a:pt x="2179574" y="260731"/>
                  </a:lnTo>
                  <a:cubicBezTo>
                    <a:pt x="2179574" y="270129"/>
                    <a:pt x="2171954" y="277622"/>
                    <a:pt x="216268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162683" y="243840"/>
                  </a:lnTo>
                  <a:lnTo>
                    <a:pt x="2162683" y="260731"/>
                  </a:lnTo>
                  <a:lnTo>
                    <a:pt x="2145792" y="260731"/>
                  </a:lnTo>
                  <a:lnTo>
                    <a:pt x="2145792" y="16891"/>
                  </a:lnTo>
                  <a:lnTo>
                    <a:pt x="2162683" y="16891"/>
                  </a:lnTo>
                  <a:lnTo>
                    <a:pt x="21626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33727" y="4382767"/>
            <a:ext cx="9613897" cy="1000249"/>
            <a:chOff x="0" y="0"/>
            <a:chExt cx="12818529" cy="133366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12801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18618" cy="1333754"/>
            </a:xfrm>
            <a:custGeom>
              <a:avLst/>
              <a:gdLst/>
              <a:ahLst/>
              <a:cxnLst/>
              <a:rect r="r" b="b" t="t" l="l"/>
              <a:pathLst>
                <a:path h="1333754" w="12818618">
                  <a:moveTo>
                    <a:pt x="8509" y="0"/>
                  </a:moveTo>
                  <a:lnTo>
                    <a:pt x="12810109" y="0"/>
                  </a:lnTo>
                  <a:cubicBezTo>
                    <a:pt x="12814808" y="0"/>
                    <a:pt x="12818618" y="3810"/>
                    <a:pt x="12818618" y="8509"/>
                  </a:cubicBezTo>
                  <a:lnTo>
                    <a:pt x="12818618" y="1325245"/>
                  </a:lnTo>
                  <a:cubicBezTo>
                    <a:pt x="12818618" y="1329944"/>
                    <a:pt x="12814808" y="1333754"/>
                    <a:pt x="12810109" y="1333754"/>
                  </a:cubicBezTo>
                  <a:lnTo>
                    <a:pt x="8509" y="1333754"/>
                  </a:lnTo>
                  <a:cubicBezTo>
                    <a:pt x="3810" y="1333754"/>
                    <a:pt x="0" y="1329944"/>
                    <a:pt x="0" y="132524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25245"/>
                  </a:lnTo>
                  <a:lnTo>
                    <a:pt x="8509" y="1325245"/>
                  </a:lnTo>
                  <a:lnTo>
                    <a:pt x="8509" y="1316736"/>
                  </a:lnTo>
                  <a:lnTo>
                    <a:pt x="12810109" y="1316736"/>
                  </a:lnTo>
                  <a:lnTo>
                    <a:pt x="12810109" y="1325245"/>
                  </a:lnTo>
                  <a:lnTo>
                    <a:pt x="12801600" y="1325245"/>
                  </a:lnTo>
                  <a:lnTo>
                    <a:pt x="12801600" y="8509"/>
                  </a:lnTo>
                  <a:lnTo>
                    <a:pt x="12810109" y="8509"/>
                  </a:lnTo>
                  <a:lnTo>
                    <a:pt x="12810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4389120"/>
            <a:ext cx="3657600" cy="987552"/>
            <a:chOff x="0" y="0"/>
            <a:chExt cx="4876800" cy="13167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76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66" r="0" b="-2216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876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480560" y="4443984"/>
            <a:ext cx="1920240" cy="457200"/>
            <a:chOff x="0" y="0"/>
            <a:chExt cx="256032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99.44%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614167" y="4998215"/>
            <a:ext cx="1632966" cy="208283"/>
            <a:chOff x="0" y="0"/>
            <a:chExt cx="2177288" cy="2777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143506" cy="243840"/>
            </a:xfrm>
            <a:custGeom>
              <a:avLst/>
              <a:gdLst/>
              <a:ahLst/>
              <a:cxnLst/>
              <a:rect r="r" b="b" t="t" l="l"/>
              <a:pathLst>
                <a:path h="243840" w="2143506">
                  <a:moveTo>
                    <a:pt x="0" y="0"/>
                  </a:moveTo>
                  <a:lnTo>
                    <a:pt x="2143506" y="0"/>
                  </a:lnTo>
                  <a:lnTo>
                    <a:pt x="2143506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77288" cy="277624"/>
            </a:xfrm>
            <a:custGeom>
              <a:avLst/>
              <a:gdLst/>
              <a:ahLst/>
              <a:cxnLst/>
              <a:rect r="r" b="b" t="t" l="l"/>
              <a:pathLst>
                <a:path h="277624" w="2177288">
                  <a:moveTo>
                    <a:pt x="16891" y="0"/>
                  </a:moveTo>
                  <a:lnTo>
                    <a:pt x="2160397" y="0"/>
                  </a:lnTo>
                  <a:cubicBezTo>
                    <a:pt x="2169795" y="0"/>
                    <a:pt x="2177288" y="7620"/>
                    <a:pt x="2177288" y="16891"/>
                  </a:cubicBezTo>
                  <a:lnTo>
                    <a:pt x="2177288" y="260731"/>
                  </a:lnTo>
                  <a:cubicBezTo>
                    <a:pt x="2177288" y="270129"/>
                    <a:pt x="2169668" y="277622"/>
                    <a:pt x="2160397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160397" y="243840"/>
                  </a:lnTo>
                  <a:lnTo>
                    <a:pt x="2160397" y="260731"/>
                  </a:lnTo>
                  <a:lnTo>
                    <a:pt x="2143506" y="260731"/>
                  </a:lnTo>
                  <a:lnTo>
                    <a:pt x="2143506" y="16891"/>
                  </a:lnTo>
                  <a:lnTo>
                    <a:pt x="2160397" y="16891"/>
                  </a:lnTo>
                  <a:lnTo>
                    <a:pt x="216039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400800" y="4443984"/>
            <a:ext cx="1920240" cy="457200"/>
            <a:chOff x="0" y="0"/>
            <a:chExt cx="2560320" cy="609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99.40%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34407" y="4998215"/>
            <a:ext cx="1632966" cy="208283"/>
            <a:chOff x="0" y="0"/>
            <a:chExt cx="2177288" cy="2777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143506" cy="243840"/>
            </a:xfrm>
            <a:custGeom>
              <a:avLst/>
              <a:gdLst/>
              <a:ahLst/>
              <a:cxnLst/>
              <a:rect r="r" b="b" t="t" l="l"/>
              <a:pathLst>
                <a:path h="243840" w="2143506">
                  <a:moveTo>
                    <a:pt x="0" y="0"/>
                  </a:moveTo>
                  <a:lnTo>
                    <a:pt x="2143506" y="0"/>
                  </a:lnTo>
                  <a:lnTo>
                    <a:pt x="2143506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77288" cy="277624"/>
            </a:xfrm>
            <a:custGeom>
              <a:avLst/>
              <a:gdLst/>
              <a:ahLst/>
              <a:cxnLst/>
              <a:rect r="r" b="b" t="t" l="l"/>
              <a:pathLst>
                <a:path h="277624" w="2177288">
                  <a:moveTo>
                    <a:pt x="16891" y="0"/>
                  </a:moveTo>
                  <a:lnTo>
                    <a:pt x="2160397" y="0"/>
                  </a:lnTo>
                  <a:cubicBezTo>
                    <a:pt x="2169795" y="0"/>
                    <a:pt x="2177288" y="7620"/>
                    <a:pt x="2177288" y="16891"/>
                  </a:cubicBezTo>
                  <a:lnTo>
                    <a:pt x="2177288" y="260731"/>
                  </a:lnTo>
                  <a:cubicBezTo>
                    <a:pt x="2177288" y="270129"/>
                    <a:pt x="2169668" y="277622"/>
                    <a:pt x="2160397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160397" y="243840"/>
                  </a:lnTo>
                  <a:lnTo>
                    <a:pt x="2160397" y="260731"/>
                  </a:lnTo>
                  <a:lnTo>
                    <a:pt x="2143506" y="260731"/>
                  </a:lnTo>
                  <a:lnTo>
                    <a:pt x="2143506" y="16891"/>
                  </a:lnTo>
                  <a:lnTo>
                    <a:pt x="2160397" y="16891"/>
                  </a:lnTo>
                  <a:lnTo>
                    <a:pt x="216039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321040" y="4443984"/>
            <a:ext cx="1920240" cy="457200"/>
            <a:chOff x="0" y="0"/>
            <a:chExt cx="256032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0.8823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454647" y="4998215"/>
            <a:ext cx="1613859" cy="208283"/>
            <a:chOff x="0" y="0"/>
            <a:chExt cx="2151812" cy="2777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117979" cy="243840"/>
            </a:xfrm>
            <a:custGeom>
              <a:avLst/>
              <a:gdLst/>
              <a:ahLst/>
              <a:cxnLst/>
              <a:rect r="r" b="b" t="t" l="l"/>
              <a:pathLst>
                <a:path h="243840" w="2117979">
                  <a:moveTo>
                    <a:pt x="0" y="0"/>
                  </a:moveTo>
                  <a:lnTo>
                    <a:pt x="2117979" y="0"/>
                  </a:lnTo>
                  <a:lnTo>
                    <a:pt x="211797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51761" cy="277624"/>
            </a:xfrm>
            <a:custGeom>
              <a:avLst/>
              <a:gdLst/>
              <a:ahLst/>
              <a:cxnLst/>
              <a:rect r="r" b="b" t="t" l="l"/>
              <a:pathLst>
                <a:path h="277624" w="2151761">
                  <a:moveTo>
                    <a:pt x="16891" y="0"/>
                  </a:moveTo>
                  <a:lnTo>
                    <a:pt x="2134870" y="0"/>
                  </a:lnTo>
                  <a:cubicBezTo>
                    <a:pt x="2144268" y="0"/>
                    <a:pt x="2151761" y="7620"/>
                    <a:pt x="2151761" y="16891"/>
                  </a:cubicBezTo>
                  <a:lnTo>
                    <a:pt x="2151761" y="260731"/>
                  </a:lnTo>
                  <a:cubicBezTo>
                    <a:pt x="2151761" y="270129"/>
                    <a:pt x="2144141" y="277622"/>
                    <a:pt x="213487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134870" y="243840"/>
                  </a:lnTo>
                  <a:lnTo>
                    <a:pt x="2134870" y="260731"/>
                  </a:lnTo>
                  <a:lnTo>
                    <a:pt x="2117979" y="260731"/>
                  </a:lnTo>
                  <a:lnTo>
                    <a:pt x="2117979" y="16891"/>
                  </a:lnTo>
                  <a:lnTo>
                    <a:pt x="2134870" y="16891"/>
                  </a:lnTo>
                  <a:lnTo>
                    <a:pt x="213487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33727" y="5370319"/>
            <a:ext cx="9613897" cy="1000249"/>
            <a:chOff x="0" y="0"/>
            <a:chExt cx="12818529" cy="133366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12801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2818618" cy="1333754"/>
            </a:xfrm>
            <a:custGeom>
              <a:avLst/>
              <a:gdLst/>
              <a:ahLst/>
              <a:cxnLst/>
              <a:rect r="r" b="b" t="t" l="l"/>
              <a:pathLst>
                <a:path h="1333754" w="12818618">
                  <a:moveTo>
                    <a:pt x="8509" y="0"/>
                  </a:moveTo>
                  <a:lnTo>
                    <a:pt x="12810109" y="0"/>
                  </a:lnTo>
                  <a:cubicBezTo>
                    <a:pt x="12814808" y="0"/>
                    <a:pt x="12818618" y="3810"/>
                    <a:pt x="12818618" y="8509"/>
                  </a:cubicBezTo>
                  <a:lnTo>
                    <a:pt x="12818618" y="1325245"/>
                  </a:lnTo>
                  <a:cubicBezTo>
                    <a:pt x="12818618" y="1329944"/>
                    <a:pt x="12814808" y="1333754"/>
                    <a:pt x="12810109" y="1333754"/>
                  </a:cubicBezTo>
                  <a:lnTo>
                    <a:pt x="8509" y="1333754"/>
                  </a:lnTo>
                  <a:cubicBezTo>
                    <a:pt x="3810" y="1333754"/>
                    <a:pt x="0" y="1329944"/>
                    <a:pt x="0" y="132524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25245"/>
                  </a:lnTo>
                  <a:lnTo>
                    <a:pt x="8509" y="1325245"/>
                  </a:lnTo>
                  <a:lnTo>
                    <a:pt x="8509" y="1316736"/>
                  </a:lnTo>
                  <a:lnTo>
                    <a:pt x="12810109" y="1316736"/>
                  </a:lnTo>
                  <a:lnTo>
                    <a:pt x="12810109" y="1325245"/>
                  </a:lnTo>
                  <a:lnTo>
                    <a:pt x="12801600" y="1325245"/>
                  </a:lnTo>
                  <a:lnTo>
                    <a:pt x="12801600" y="8509"/>
                  </a:lnTo>
                  <a:lnTo>
                    <a:pt x="12810109" y="8509"/>
                  </a:lnTo>
                  <a:lnTo>
                    <a:pt x="12810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22960" y="5376672"/>
            <a:ext cx="3657600" cy="987552"/>
            <a:chOff x="0" y="0"/>
            <a:chExt cx="4876800" cy="131673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66" r="0" b="-2216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876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Decision Tree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480560" y="5431536"/>
            <a:ext cx="1920240" cy="457200"/>
            <a:chOff x="0" y="0"/>
            <a:chExt cx="2560320" cy="609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92.48%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614167" y="5985767"/>
            <a:ext cx="1520447" cy="208283"/>
            <a:chOff x="0" y="0"/>
            <a:chExt cx="2027263" cy="2777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993392" cy="243840"/>
            </a:xfrm>
            <a:custGeom>
              <a:avLst/>
              <a:gdLst/>
              <a:ahLst/>
              <a:cxnLst/>
              <a:rect r="r" b="b" t="t" l="l"/>
              <a:pathLst>
                <a:path h="243840" w="1993392">
                  <a:moveTo>
                    <a:pt x="0" y="0"/>
                  </a:moveTo>
                  <a:lnTo>
                    <a:pt x="1993392" y="0"/>
                  </a:lnTo>
                  <a:lnTo>
                    <a:pt x="199339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27174" cy="277624"/>
            </a:xfrm>
            <a:custGeom>
              <a:avLst/>
              <a:gdLst/>
              <a:ahLst/>
              <a:cxnLst/>
              <a:rect r="r" b="b" t="t" l="l"/>
              <a:pathLst>
                <a:path h="277624" w="2027174">
                  <a:moveTo>
                    <a:pt x="16891" y="0"/>
                  </a:moveTo>
                  <a:lnTo>
                    <a:pt x="2010283" y="0"/>
                  </a:lnTo>
                  <a:cubicBezTo>
                    <a:pt x="2019681" y="0"/>
                    <a:pt x="2027174" y="7620"/>
                    <a:pt x="2027174" y="16891"/>
                  </a:cubicBezTo>
                  <a:lnTo>
                    <a:pt x="2027174" y="260731"/>
                  </a:lnTo>
                  <a:cubicBezTo>
                    <a:pt x="2027174" y="270129"/>
                    <a:pt x="2019554" y="277622"/>
                    <a:pt x="201028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010283" y="243840"/>
                  </a:lnTo>
                  <a:lnTo>
                    <a:pt x="2010283" y="260731"/>
                  </a:lnTo>
                  <a:lnTo>
                    <a:pt x="1993392" y="260731"/>
                  </a:lnTo>
                  <a:lnTo>
                    <a:pt x="1993392" y="16891"/>
                  </a:lnTo>
                  <a:lnTo>
                    <a:pt x="2010283" y="16891"/>
                  </a:lnTo>
                  <a:lnTo>
                    <a:pt x="201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400800" y="5431536"/>
            <a:ext cx="1920240" cy="457200"/>
            <a:chOff x="0" y="0"/>
            <a:chExt cx="256032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95.09%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534407" y="5985767"/>
            <a:ext cx="1563262" cy="208283"/>
            <a:chOff x="0" y="0"/>
            <a:chExt cx="2084349" cy="27771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050542" cy="243840"/>
            </a:xfrm>
            <a:custGeom>
              <a:avLst/>
              <a:gdLst/>
              <a:ahLst/>
              <a:cxnLst/>
              <a:rect r="r" b="b" t="t" l="l"/>
              <a:pathLst>
                <a:path h="243840" w="2050542">
                  <a:moveTo>
                    <a:pt x="0" y="0"/>
                  </a:moveTo>
                  <a:lnTo>
                    <a:pt x="2050542" y="0"/>
                  </a:lnTo>
                  <a:lnTo>
                    <a:pt x="205054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084324" cy="277624"/>
            </a:xfrm>
            <a:custGeom>
              <a:avLst/>
              <a:gdLst/>
              <a:ahLst/>
              <a:cxnLst/>
              <a:rect r="r" b="b" t="t" l="l"/>
              <a:pathLst>
                <a:path h="277624" w="2084324">
                  <a:moveTo>
                    <a:pt x="16891" y="0"/>
                  </a:moveTo>
                  <a:lnTo>
                    <a:pt x="2067433" y="0"/>
                  </a:lnTo>
                  <a:cubicBezTo>
                    <a:pt x="2076831" y="0"/>
                    <a:pt x="2084324" y="7620"/>
                    <a:pt x="2084324" y="16891"/>
                  </a:cubicBezTo>
                  <a:lnTo>
                    <a:pt x="2084324" y="260731"/>
                  </a:lnTo>
                  <a:cubicBezTo>
                    <a:pt x="2084324" y="270129"/>
                    <a:pt x="2076704" y="277622"/>
                    <a:pt x="2067433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067433" y="243840"/>
                  </a:lnTo>
                  <a:lnTo>
                    <a:pt x="2067433" y="260731"/>
                  </a:lnTo>
                  <a:lnTo>
                    <a:pt x="2050542" y="260731"/>
                  </a:lnTo>
                  <a:lnTo>
                    <a:pt x="2050542" y="16891"/>
                  </a:lnTo>
                  <a:lnTo>
                    <a:pt x="2067433" y="16891"/>
                  </a:lnTo>
                  <a:lnTo>
                    <a:pt x="206743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321040" y="5431536"/>
            <a:ext cx="1920240" cy="457200"/>
            <a:chOff x="0" y="0"/>
            <a:chExt cx="2560320" cy="609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0.8640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454647" y="5985767"/>
            <a:ext cx="1580912" cy="208283"/>
            <a:chOff x="0" y="0"/>
            <a:chExt cx="2107882" cy="27771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074037" cy="243840"/>
            </a:xfrm>
            <a:custGeom>
              <a:avLst/>
              <a:gdLst/>
              <a:ahLst/>
              <a:cxnLst/>
              <a:rect r="r" b="b" t="t" l="l"/>
              <a:pathLst>
                <a:path h="243840" w="2074037">
                  <a:moveTo>
                    <a:pt x="0" y="0"/>
                  </a:moveTo>
                  <a:lnTo>
                    <a:pt x="2074037" y="0"/>
                  </a:lnTo>
                  <a:lnTo>
                    <a:pt x="2074037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07819" cy="277624"/>
            </a:xfrm>
            <a:custGeom>
              <a:avLst/>
              <a:gdLst/>
              <a:ahLst/>
              <a:cxnLst/>
              <a:rect r="r" b="b" t="t" l="l"/>
              <a:pathLst>
                <a:path h="277624" w="2107819">
                  <a:moveTo>
                    <a:pt x="16891" y="0"/>
                  </a:moveTo>
                  <a:lnTo>
                    <a:pt x="2090928" y="0"/>
                  </a:lnTo>
                  <a:cubicBezTo>
                    <a:pt x="2100326" y="0"/>
                    <a:pt x="2107819" y="7620"/>
                    <a:pt x="2107819" y="16891"/>
                  </a:cubicBezTo>
                  <a:lnTo>
                    <a:pt x="2107819" y="260731"/>
                  </a:lnTo>
                  <a:cubicBezTo>
                    <a:pt x="2107819" y="270129"/>
                    <a:pt x="2100199" y="277622"/>
                    <a:pt x="2090928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090928" y="243840"/>
                  </a:lnTo>
                  <a:lnTo>
                    <a:pt x="2090928" y="260731"/>
                  </a:lnTo>
                  <a:lnTo>
                    <a:pt x="2074037" y="260731"/>
                  </a:lnTo>
                  <a:lnTo>
                    <a:pt x="2074037" y="16891"/>
                  </a:lnTo>
                  <a:lnTo>
                    <a:pt x="2090928" y="16891"/>
                  </a:lnTo>
                  <a:lnTo>
                    <a:pt x="209092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33727" y="6357871"/>
            <a:ext cx="9613897" cy="1000249"/>
            <a:chOff x="0" y="0"/>
            <a:chExt cx="12818529" cy="133366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8509" y="8509"/>
              <a:ext cx="12801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2818618" cy="1333754"/>
            </a:xfrm>
            <a:custGeom>
              <a:avLst/>
              <a:gdLst/>
              <a:ahLst/>
              <a:cxnLst/>
              <a:rect r="r" b="b" t="t" l="l"/>
              <a:pathLst>
                <a:path h="1333754" w="12818618">
                  <a:moveTo>
                    <a:pt x="8509" y="0"/>
                  </a:moveTo>
                  <a:lnTo>
                    <a:pt x="12810109" y="0"/>
                  </a:lnTo>
                  <a:cubicBezTo>
                    <a:pt x="12814808" y="0"/>
                    <a:pt x="12818618" y="3810"/>
                    <a:pt x="12818618" y="8509"/>
                  </a:cubicBezTo>
                  <a:lnTo>
                    <a:pt x="12818618" y="1325245"/>
                  </a:lnTo>
                  <a:cubicBezTo>
                    <a:pt x="12818618" y="1329944"/>
                    <a:pt x="12814808" y="1333754"/>
                    <a:pt x="12810109" y="1333754"/>
                  </a:cubicBezTo>
                  <a:lnTo>
                    <a:pt x="8509" y="1333754"/>
                  </a:lnTo>
                  <a:cubicBezTo>
                    <a:pt x="3810" y="1333754"/>
                    <a:pt x="0" y="1329944"/>
                    <a:pt x="0" y="132524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25245"/>
                  </a:lnTo>
                  <a:lnTo>
                    <a:pt x="8509" y="1325245"/>
                  </a:lnTo>
                  <a:lnTo>
                    <a:pt x="8509" y="1316736"/>
                  </a:lnTo>
                  <a:lnTo>
                    <a:pt x="12810109" y="1316736"/>
                  </a:lnTo>
                  <a:lnTo>
                    <a:pt x="12810109" y="1325245"/>
                  </a:lnTo>
                  <a:lnTo>
                    <a:pt x="12801600" y="1325245"/>
                  </a:lnTo>
                  <a:lnTo>
                    <a:pt x="12801600" y="8509"/>
                  </a:lnTo>
                  <a:lnTo>
                    <a:pt x="12810109" y="8509"/>
                  </a:lnTo>
                  <a:lnTo>
                    <a:pt x="12810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822960" y="6364224"/>
            <a:ext cx="3657600" cy="987552"/>
            <a:chOff x="0" y="0"/>
            <a:chExt cx="4876800" cy="131673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876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66" r="0" b="-2216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4876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 Reg.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4480560" y="6419088"/>
            <a:ext cx="1920240" cy="457200"/>
            <a:chOff x="0" y="0"/>
            <a:chExt cx="2560320" cy="6096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68.11%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4614167" y="6973319"/>
            <a:ext cx="1126484" cy="208283"/>
            <a:chOff x="0" y="0"/>
            <a:chExt cx="1501978" cy="2777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468120" cy="243840"/>
            </a:xfrm>
            <a:custGeom>
              <a:avLst/>
              <a:gdLst/>
              <a:ahLst/>
              <a:cxnLst/>
              <a:rect r="r" b="b" t="t" l="l"/>
              <a:pathLst>
                <a:path h="243840" w="1468120">
                  <a:moveTo>
                    <a:pt x="0" y="0"/>
                  </a:moveTo>
                  <a:lnTo>
                    <a:pt x="1468120" y="0"/>
                  </a:lnTo>
                  <a:lnTo>
                    <a:pt x="14681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501902" cy="277624"/>
            </a:xfrm>
            <a:custGeom>
              <a:avLst/>
              <a:gdLst/>
              <a:ahLst/>
              <a:cxnLst/>
              <a:rect r="r" b="b" t="t" l="l"/>
              <a:pathLst>
                <a:path h="277624" w="1501902">
                  <a:moveTo>
                    <a:pt x="16891" y="0"/>
                  </a:moveTo>
                  <a:lnTo>
                    <a:pt x="1485011" y="0"/>
                  </a:lnTo>
                  <a:cubicBezTo>
                    <a:pt x="1494409" y="0"/>
                    <a:pt x="1501902" y="7620"/>
                    <a:pt x="1501902" y="16891"/>
                  </a:cubicBezTo>
                  <a:lnTo>
                    <a:pt x="1501902" y="260731"/>
                  </a:lnTo>
                  <a:cubicBezTo>
                    <a:pt x="1501902" y="270129"/>
                    <a:pt x="1494282" y="277622"/>
                    <a:pt x="14850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485011" y="243840"/>
                  </a:lnTo>
                  <a:lnTo>
                    <a:pt x="1485011" y="260731"/>
                  </a:lnTo>
                  <a:lnTo>
                    <a:pt x="1468120" y="260731"/>
                  </a:lnTo>
                  <a:lnTo>
                    <a:pt x="1468120" y="16891"/>
                  </a:lnTo>
                  <a:lnTo>
                    <a:pt x="1485011" y="16891"/>
                  </a:lnTo>
                  <a:lnTo>
                    <a:pt x="1485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400800" y="6419088"/>
            <a:ext cx="1920240" cy="457200"/>
            <a:chOff x="0" y="0"/>
            <a:chExt cx="2560320" cy="6096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79.86%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534407" y="6973319"/>
            <a:ext cx="1316946" cy="208283"/>
            <a:chOff x="0" y="0"/>
            <a:chExt cx="1755927" cy="27771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722120" cy="243840"/>
            </a:xfrm>
            <a:custGeom>
              <a:avLst/>
              <a:gdLst/>
              <a:ahLst/>
              <a:cxnLst/>
              <a:rect r="r" b="b" t="t" l="l"/>
              <a:pathLst>
                <a:path h="243840" w="1722120">
                  <a:moveTo>
                    <a:pt x="0" y="0"/>
                  </a:moveTo>
                  <a:lnTo>
                    <a:pt x="1722120" y="0"/>
                  </a:lnTo>
                  <a:lnTo>
                    <a:pt x="17221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755902" cy="277624"/>
            </a:xfrm>
            <a:custGeom>
              <a:avLst/>
              <a:gdLst/>
              <a:ahLst/>
              <a:cxnLst/>
              <a:rect r="r" b="b" t="t" l="l"/>
              <a:pathLst>
                <a:path h="277624" w="1755902">
                  <a:moveTo>
                    <a:pt x="16891" y="0"/>
                  </a:moveTo>
                  <a:lnTo>
                    <a:pt x="1739011" y="0"/>
                  </a:lnTo>
                  <a:cubicBezTo>
                    <a:pt x="1748409" y="0"/>
                    <a:pt x="1755902" y="7620"/>
                    <a:pt x="1755902" y="16891"/>
                  </a:cubicBezTo>
                  <a:lnTo>
                    <a:pt x="1755902" y="260731"/>
                  </a:lnTo>
                  <a:cubicBezTo>
                    <a:pt x="1755902" y="270129"/>
                    <a:pt x="1748282" y="277622"/>
                    <a:pt x="17390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739011" y="243840"/>
                  </a:lnTo>
                  <a:lnTo>
                    <a:pt x="1739011" y="260731"/>
                  </a:lnTo>
                  <a:lnTo>
                    <a:pt x="1722120" y="260731"/>
                  </a:lnTo>
                  <a:lnTo>
                    <a:pt x="1722120" y="16891"/>
                  </a:lnTo>
                  <a:lnTo>
                    <a:pt x="1739011" y="16891"/>
                  </a:lnTo>
                  <a:lnTo>
                    <a:pt x="1739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8321040" y="6419088"/>
            <a:ext cx="1920240" cy="457200"/>
            <a:chOff x="0" y="0"/>
            <a:chExt cx="2560320" cy="6096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560320" cy="609600"/>
            </a:xfrm>
            <a:custGeom>
              <a:avLst/>
              <a:gdLst/>
              <a:ahLst/>
              <a:cxnLst/>
              <a:rect r="r" b="b" t="t" l="l"/>
              <a:pathLst>
                <a:path h="6096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5603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0.7950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454647" y="6973319"/>
            <a:ext cx="1456687" cy="208283"/>
            <a:chOff x="0" y="0"/>
            <a:chExt cx="1942249" cy="27771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908429" cy="243840"/>
            </a:xfrm>
            <a:custGeom>
              <a:avLst/>
              <a:gdLst/>
              <a:ahLst/>
              <a:cxnLst/>
              <a:rect r="r" b="b" t="t" l="l"/>
              <a:pathLst>
                <a:path h="243840" w="1908429">
                  <a:moveTo>
                    <a:pt x="0" y="0"/>
                  </a:moveTo>
                  <a:lnTo>
                    <a:pt x="1908429" y="0"/>
                  </a:lnTo>
                  <a:lnTo>
                    <a:pt x="190842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>
                <a:alpha val="35686"/>
              </a:srgbClr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942211" cy="277624"/>
            </a:xfrm>
            <a:custGeom>
              <a:avLst/>
              <a:gdLst/>
              <a:ahLst/>
              <a:cxnLst/>
              <a:rect r="r" b="b" t="t" l="l"/>
              <a:pathLst>
                <a:path h="277624" w="1942211">
                  <a:moveTo>
                    <a:pt x="16891" y="0"/>
                  </a:moveTo>
                  <a:lnTo>
                    <a:pt x="1925320" y="0"/>
                  </a:lnTo>
                  <a:cubicBezTo>
                    <a:pt x="1934718" y="0"/>
                    <a:pt x="1942211" y="7620"/>
                    <a:pt x="1942211" y="16891"/>
                  </a:cubicBezTo>
                  <a:lnTo>
                    <a:pt x="1942211" y="260731"/>
                  </a:lnTo>
                  <a:cubicBezTo>
                    <a:pt x="1942211" y="270129"/>
                    <a:pt x="1934591" y="277622"/>
                    <a:pt x="192532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925320" y="243840"/>
                  </a:lnTo>
                  <a:lnTo>
                    <a:pt x="1925320" y="260731"/>
                  </a:lnTo>
                  <a:lnTo>
                    <a:pt x="1908429" y="260731"/>
                  </a:lnTo>
                  <a:lnTo>
                    <a:pt x="1908429" y="16891"/>
                  </a:lnTo>
                  <a:lnTo>
                    <a:pt x="1925320" y="16891"/>
                  </a:lnTo>
                  <a:lnTo>
                    <a:pt x="192532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27383" y="7485383"/>
            <a:ext cx="9626603" cy="866651"/>
            <a:chOff x="0" y="0"/>
            <a:chExt cx="12835471" cy="115553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2801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0D2F1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283538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2835382">
                  <a:moveTo>
                    <a:pt x="16891" y="0"/>
                  </a:moveTo>
                  <a:lnTo>
                    <a:pt x="12818491" y="0"/>
                  </a:lnTo>
                  <a:cubicBezTo>
                    <a:pt x="12827889" y="0"/>
                    <a:pt x="12835382" y="7620"/>
                    <a:pt x="12835382" y="16891"/>
                  </a:cubicBezTo>
                  <a:lnTo>
                    <a:pt x="12835382" y="1138555"/>
                  </a:lnTo>
                  <a:cubicBezTo>
                    <a:pt x="12835382" y="1147953"/>
                    <a:pt x="12827762" y="1155446"/>
                    <a:pt x="1281849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2818491" y="1121664"/>
                  </a:lnTo>
                  <a:lnTo>
                    <a:pt x="12818491" y="1138555"/>
                  </a:lnTo>
                  <a:lnTo>
                    <a:pt x="12801600" y="1138555"/>
                  </a:lnTo>
                  <a:lnTo>
                    <a:pt x="12801600" y="16891"/>
                  </a:lnTo>
                  <a:lnTo>
                    <a:pt x="12818491" y="16891"/>
                  </a:lnTo>
                  <a:lnTo>
                    <a:pt x="12818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822960" y="7498080"/>
            <a:ext cx="9418320" cy="841248"/>
            <a:chOff x="0" y="0"/>
            <a:chExt cx="12557760" cy="112166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25577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147" r="0" b="-16814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1255776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🏆  Random Forest — meilleur modèle sur toutes les métriques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0789920" y="1920240"/>
            <a:ext cx="6858000" cy="603504"/>
            <a:chOff x="0" y="0"/>
            <a:chExt cx="9144000" cy="80467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144000" cy="804672"/>
            </a:xfrm>
            <a:custGeom>
              <a:avLst/>
              <a:gdLst/>
              <a:ahLst/>
              <a:cxnLst/>
              <a:rect r="r" b="b" t="t" l="l"/>
              <a:pathLst>
                <a:path h="80467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914400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Cross-Validation 5-Fold (RF)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779757" y="2586733"/>
            <a:ext cx="6878317" cy="6695437"/>
            <a:chOff x="0" y="0"/>
            <a:chExt cx="9171089" cy="892724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3589" y="13589"/>
              <a:ext cx="9144000" cy="8900160"/>
            </a:xfrm>
            <a:custGeom>
              <a:avLst/>
              <a:gdLst/>
              <a:ahLst/>
              <a:cxnLst/>
              <a:rect r="r" b="b" t="t" l="l"/>
              <a:pathLst>
                <a:path h="890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171178" cy="8927338"/>
            </a:xfrm>
            <a:custGeom>
              <a:avLst/>
              <a:gdLst/>
              <a:ahLst/>
              <a:cxnLst/>
              <a:rect r="r" b="b" t="t" l="l"/>
              <a:pathLst>
                <a:path h="8927338" w="9171178">
                  <a:moveTo>
                    <a:pt x="13589" y="0"/>
                  </a:moveTo>
                  <a:lnTo>
                    <a:pt x="9157589" y="0"/>
                  </a:lnTo>
                  <a:cubicBezTo>
                    <a:pt x="9165082" y="0"/>
                    <a:pt x="9171178" y="6096"/>
                    <a:pt x="9171178" y="13589"/>
                  </a:cubicBezTo>
                  <a:lnTo>
                    <a:pt x="9171178" y="8913749"/>
                  </a:lnTo>
                  <a:cubicBezTo>
                    <a:pt x="9171178" y="8921242"/>
                    <a:pt x="9165082" y="8927338"/>
                    <a:pt x="9157589" y="8927338"/>
                  </a:cubicBezTo>
                  <a:lnTo>
                    <a:pt x="13589" y="8927338"/>
                  </a:lnTo>
                  <a:cubicBezTo>
                    <a:pt x="6096" y="8927338"/>
                    <a:pt x="0" y="8921242"/>
                    <a:pt x="0" y="891374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8913749"/>
                  </a:lnTo>
                  <a:lnTo>
                    <a:pt x="13589" y="8913749"/>
                  </a:lnTo>
                  <a:lnTo>
                    <a:pt x="13589" y="8900160"/>
                  </a:lnTo>
                  <a:lnTo>
                    <a:pt x="9157589" y="8900160"/>
                  </a:lnTo>
                  <a:lnTo>
                    <a:pt x="9157589" y="8913749"/>
                  </a:lnTo>
                  <a:lnTo>
                    <a:pt x="9144000" y="8913749"/>
                  </a:lnTo>
                  <a:lnTo>
                    <a:pt x="9144000" y="13589"/>
                  </a:lnTo>
                  <a:lnTo>
                    <a:pt x="9157589" y="13589"/>
                  </a:lnTo>
                  <a:lnTo>
                    <a:pt x="91575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777223" y="2584199"/>
            <a:ext cx="6883403" cy="135131"/>
            <a:chOff x="0" y="0"/>
            <a:chExt cx="9177871" cy="18017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914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9177782" cy="180088"/>
            </a:xfrm>
            <a:custGeom>
              <a:avLst/>
              <a:gdLst/>
              <a:ahLst/>
              <a:cxnLst/>
              <a:rect r="r" b="b" t="t" l="l"/>
              <a:pathLst>
                <a:path h="180088" w="9177782">
                  <a:moveTo>
                    <a:pt x="16891" y="0"/>
                  </a:moveTo>
                  <a:lnTo>
                    <a:pt x="9160891" y="0"/>
                  </a:lnTo>
                  <a:cubicBezTo>
                    <a:pt x="9170289" y="0"/>
                    <a:pt x="9177782" y="7620"/>
                    <a:pt x="9177782" y="16891"/>
                  </a:cubicBezTo>
                  <a:lnTo>
                    <a:pt x="9177782" y="163195"/>
                  </a:lnTo>
                  <a:cubicBezTo>
                    <a:pt x="9177782" y="172593"/>
                    <a:pt x="9170162" y="180086"/>
                    <a:pt x="91608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9160891" y="146304"/>
                  </a:lnTo>
                  <a:lnTo>
                    <a:pt x="9160891" y="163195"/>
                  </a:lnTo>
                  <a:lnTo>
                    <a:pt x="9144000" y="163195"/>
                  </a:lnTo>
                  <a:lnTo>
                    <a:pt x="9144000" y="16891"/>
                  </a:lnTo>
                  <a:lnTo>
                    <a:pt x="9160891" y="16891"/>
                  </a:lnTo>
                  <a:lnTo>
                    <a:pt x="9160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1009376" y="2852928"/>
            <a:ext cx="2011680" cy="493776"/>
            <a:chOff x="0" y="0"/>
            <a:chExt cx="2682240" cy="65836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3075920" y="2852928"/>
            <a:ext cx="2011680" cy="493776"/>
            <a:chOff x="0" y="0"/>
            <a:chExt cx="2682240" cy="6583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0.9950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5142464" y="2852928"/>
            <a:ext cx="2286000" cy="493776"/>
            <a:chOff x="0" y="0"/>
            <a:chExt cx="3048000" cy="65836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048000" cy="658368"/>
            </a:xfrm>
            <a:custGeom>
              <a:avLst/>
              <a:gdLst/>
              <a:ahLst/>
              <a:cxnLst/>
              <a:rect r="r" b="b" t="t" l="l"/>
              <a:pathLst>
                <a:path h="65836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08" r="0" b="-4020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3048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±0.0003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996679" y="3388871"/>
            <a:ext cx="6426203" cy="244859"/>
            <a:chOff x="0" y="0"/>
            <a:chExt cx="8568271" cy="32647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853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8568182" cy="326392"/>
            </a:xfrm>
            <a:custGeom>
              <a:avLst/>
              <a:gdLst/>
              <a:ahLst/>
              <a:cxnLst/>
              <a:rect r="r" b="b" t="t" l="l"/>
              <a:pathLst>
                <a:path h="32639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309499"/>
                  </a:lnTo>
                  <a:cubicBezTo>
                    <a:pt x="8568182" y="318897"/>
                    <a:pt x="8560562" y="326390"/>
                    <a:pt x="85512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8551291" y="292608"/>
                  </a:lnTo>
                  <a:lnTo>
                    <a:pt x="8551291" y="309499"/>
                  </a:lnTo>
                  <a:lnTo>
                    <a:pt x="8534400" y="30949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0996679" y="3388871"/>
            <a:ext cx="6394199" cy="244859"/>
            <a:chOff x="0" y="0"/>
            <a:chExt cx="8525599" cy="32647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8491728" cy="292608"/>
            </a:xfrm>
            <a:custGeom>
              <a:avLst/>
              <a:gdLst/>
              <a:ahLst/>
              <a:cxnLst/>
              <a:rect r="r" b="b" t="t" l="l"/>
              <a:pathLst>
                <a:path h="29260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8525510" cy="326392"/>
            </a:xfrm>
            <a:custGeom>
              <a:avLst/>
              <a:gdLst/>
              <a:ahLst/>
              <a:cxnLst/>
              <a:rect r="r" b="b" t="t" l="l"/>
              <a:pathLst>
                <a:path h="326392" w="8525510">
                  <a:moveTo>
                    <a:pt x="16891" y="0"/>
                  </a:moveTo>
                  <a:lnTo>
                    <a:pt x="8508619" y="0"/>
                  </a:lnTo>
                  <a:cubicBezTo>
                    <a:pt x="8518017" y="0"/>
                    <a:pt x="8525510" y="7620"/>
                    <a:pt x="8525510" y="16891"/>
                  </a:cubicBezTo>
                  <a:lnTo>
                    <a:pt x="8525510" y="309499"/>
                  </a:lnTo>
                  <a:cubicBezTo>
                    <a:pt x="8525510" y="318897"/>
                    <a:pt x="8517889" y="326390"/>
                    <a:pt x="8508619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8508619" y="292608"/>
                  </a:lnTo>
                  <a:lnTo>
                    <a:pt x="8508619" y="309499"/>
                  </a:lnTo>
                  <a:lnTo>
                    <a:pt x="8491727" y="309499"/>
                  </a:lnTo>
                  <a:lnTo>
                    <a:pt x="8491727" y="16891"/>
                  </a:lnTo>
                  <a:lnTo>
                    <a:pt x="8508619" y="16891"/>
                  </a:lnTo>
                  <a:lnTo>
                    <a:pt x="85086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1009376" y="4023360"/>
            <a:ext cx="2011680" cy="493776"/>
            <a:chOff x="0" y="0"/>
            <a:chExt cx="2682240" cy="65836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F1-Score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3075920" y="4023360"/>
            <a:ext cx="2011680" cy="493776"/>
            <a:chOff x="0" y="0"/>
            <a:chExt cx="2682240" cy="65836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0.7576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5142464" y="4023360"/>
            <a:ext cx="2286000" cy="493776"/>
            <a:chOff x="0" y="0"/>
            <a:chExt cx="3048000" cy="65836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3048000" cy="658368"/>
            </a:xfrm>
            <a:custGeom>
              <a:avLst/>
              <a:gdLst/>
              <a:ahLst/>
              <a:cxnLst/>
              <a:rect r="r" b="b" t="t" l="l"/>
              <a:pathLst>
                <a:path h="65836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08" r="0" b="-40208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3048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±0.0145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996679" y="4559303"/>
            <a:ext cx="6426203" cy="244859"/>
            <a:chOff x="0" y="0"/>
            <a:chExt cx="8568271" cy="32647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853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8568182" cy="326392"/>
            </a:xfrm>
            <a:custGeom>
              <a:avLst/>
              <a:gdLst/>
              <a:ahLst/>
              <a:cxnLst/>
              <a:rect r="r" b="b" t="t" l="l"/>
              <a:pathLst>
                <a:path h="32639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309499"/>
                  </a:lnTo>
                  <a:cubicBezTo>
                    <a:pt x="8568182" y="318897"/>
                    <a:pt x="8560562" y="326390"/>
                    <a:pt x="85512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8551291" y="292608"/>
                  </a:lnTo>
                  <a:lnTo>
                    <a:pt x="8551291" y="309499"/>
                  </a:lnTo>
                  <a:lnTo>
                    <a:pt x="8534400" y="30949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0996679" y="4559303"/>
            <a:ext cx="4874647" cy="244859"/>
            <a:chOff x="0" y="0"/>
            <a:chExt cx="6499530" cy="326479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6465697" cy="292608"/>
            </a:xfrm>
            <a:custGeom>
              <a:avLst/>
              <a:gdLst/>
              <a:ahLst/>
              <a:cxnLst/>
              <a:rect r="r" b="b" t="t" l="l"/>
              <a:pathLst>
                <a:path h="292608" w="6465697">
                  <a:moveTo>
                    <a:pt x="0" y="0"/>
                  </a:moveTo>
                  <a:lnTo>
                    <a:pt x="6465697" y="0"/>
                  </a:lnTo>
                  <a:lnTo>
                    <a:pt x="6465697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499479" cy="326392"/>
            </a:xfrm>
            <a:custGeom>
              <a:avLst/>
              <a:gdLst/>
              <a:ahLst/>
              <a:cxnLst/>
              <a:rect r="r" b="b" t="t" l="l"/>
              <a:pathLst>
                <a:path h="326392" w="6499479">
                  <a:moveTo>
                    <a:pt x="16891" y="0"/>
                  </a:moveTo>
                  <a:lnTo>
                    <a:pt x="6482588" y="0"/>
                  </a:lnTo>
                  <a:cubicBezTo>
                    <a:pt x="6491986" y="0"/>
                    <a:pt x="6499479" y="7620"/>
                    <a:pt x="6499479" y="16891"/>
                  </a:cubicBezTo>
                  <a:lnTo>
                    <a:pt x="6499479" y="309499"/>
                  </a:lnTo>
                  <a:cubicBezTo>
                    <a:pt x="6499479" y="318897"/>
                    <a:pt x="6491859" y="326390"/>
                    <a:pt x="6482588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6482588" y="292608"/>
                  </a:lnTo>
                  <a:lnTo>
                    <a:pt x="6482588" y="309499"/>
                  </a:lnTo>
                  <a:lnTo>
                    <a:pt x="6465697" y="309499"/>
                  </a:lnTo>
                  <a:lnTo>
                    <a:pt x="6465697" y="16891"/>
                  </a:lnTo>
                  <a:lnTo>
                    <a:pt x="6482588" y="16891"/>
                  </a:lnTo>
                  <a:lnTo>
                    <a:pt x="64825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1009376" y="5193792"/>
            <a:ext cx="2011680" cy="493776"/>
            <a:chOff x="0" y="0"/>
            <a:chExt cx="2682240" cy="65836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AUC-ROC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3075920" y="5193792"/>
            <a:ext cx="2011680" cy="493776"/>
            <a:chOff x="0" y="0"/>
            <a:chExt cx="2682240" cy="65836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0.8761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5142464" y="5193792"/>
            <a:ext cx="2286000" cy="493776"/>
            <a:chOff x="0" y="0"/>
            <a:chExt cx="3048000" cy="65836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048000" cy="658368"/>
            </a:xfrm>
            <a:custGeom>
              <a:avLst/>
              <a:gdLst/>
              <a:ahLst/>
              <a:cxnLst/>
              <a:rect r="r" b="b" t="t" l="l"/>
              <a:pathLst>
                <a:path h="65836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08" r="0" b="-40208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3048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±0.0129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0996679" y="5729735"/>
            <a:ext cx="6426203" cy="244859"/>
            <a:chOff x="0" y="0"/>
            <a:chExt cx="8568271" cy="32647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853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8568182" cy="326392"/>
            </a:xfrm>
            <a:custGeom>
              <a:avLst/>
              <a:gdLst/>
              <a:ahLst/>
              <a:cxnLst/>
              <a:rect r="r" b="b" t="t" l="l"/>
              <a:pathLst>
                <a:path h="32639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309499"/>
                  </a:lnTo>
                  <a:cubicBezTo>
                    <a:pt x="8568182" y="318897"/>
                    <a:pt x="8560562" y="326390"/>
                    <a:pt x="85512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8551291" y="292608"/>
                  </a:lnTo>
                  <a:lnTo>
                    <a:pt x="8551291" y="309499"/>
                  </a:lnTo>
                  <a:lnTo>
                    <a:pt x="8534400" y="30949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0996679" y="5729735"/>
            <a:ext cx="5633142" cy="244859"/>
            <a:chOff x="0" y="0"/>
            <a:chExt cx="7510856" cy="326479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7476998" cy="292608"/>
            </a:xfrm>
            <a:custGeom>
              <a:avLst/>
              <a:gdLst/>
              <a:ahLst/>
              <a:cxnLst/>
              <a:rect r="r" b="b" t="t" l="l"/>
              <a:pathLst>
                <a:path h="292608" w="7476998">
                  <a:moveTo>
                    <a:pt x="0" y="0"/>
                  </a:moveTo>
                  <a:lnTo>
                    <a:pt x="7476998" y="0"/>
                  </a:lnTo>
                  <a:lnTo>
                    <a:pt x="7476998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7510780" cy="326392"/>
            </a:xfrm>
            <a:custGeom>
              <a:avLst/>
              <a:gdLst/>
              <a:ahLst/>
              <a:cxnLst/>
              <a:rect r="r" b="b" t="t" l="l"/>
              <a:pathLst>
                <a:path h="326392" w="7510780">
                  <a:moveTo>
                    <a:pt x="16891" y="0"/>
                  </a:moveTo>
                  <a:lnTo>
                    <a:pt x="7493889" y="0"/>
                  </a:lnTo>
                  <a:cubicBezTo>
                    <a:pt x="7503287" y="0"/>
                    <a:pt x="7510780" y="7620"/>
                    <a:pt x="7510780" y="16891"/>
                  </a:cubicBezTo>
                  <a:lnTo>
                    <a:pt x="7510780" y="309499"/>
                  </a:lnTo>
                  <a:cubicBezTo>
                    <a:pt x="7510780" y="318897"/>
                    <a:pt x="7503160" y="326390"/>
                    <a:pt x="7493889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7493889" y="292608"/>
                  </a:lnTo>
                  <a:lnTo>
                    <a:pt x="7493889" y="309499"/>
                  </a:lnTo>
                  <a:lnTo>
                    <a:pt x="7476998" y="309499"/>
                  </a:lnTo>
                  <a:lnTo>
                    <a:pt x="7476998" y="16891"/>
                  </a:lnTo>
                  <a:lnTo>
                    <a:pt x="7493889" y="16891"/>
                  </a:lnTo>
                  <a:lnTo>
                    <a:pt x="749388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1009376" y="6364224"/>
            <a:ext cx="2011680" cy="493776"/>
            <a:chOff x="0" y="0"/>
            <a:chExt cx="2682240" cy="65836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Precision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075920" y="6364224"/>
            <a:ext cx="2011680" cy="493776"/>
            <a:chOff x="0" y="0"/>
            <a:chExt cx="2682240" cy="65836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0.9715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5142464" y="6364224"/>
            <a:ext cx="2286000" cy="493776"/>
            <a:chOff x="0" y="0"/>
            <a:chExt cx="3048000" cy="65836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048000" cy="658368"/>
            </a:xfrm>
            <a:custGeom>
              <a:avLst/>
              <a:gdLst/>
              <a:ahLst/>
              <a:cxnLst/>
              <a:rect r="r" b="b" t="t" l="l"/>
              <a:pathLst>
                <a:path h="65836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08" r="0" b="-40208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3048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±0.0107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996679" y="6900167"/>
            <a:ext cx="6426203" cy="244859"/>
            <a:chOff x="0" y="0"/>
            <a:chExt cx="8568271" cy="326479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853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8568182" cy="326392"/>
            </a:xfrm>
            <a:custGeom>
              <a:avLst/>
              <a:gdLst/>
              <a:ahLst/>
              <a:cxnLst/>
              <a:rect r="r" b="b" t="t" l="l"/>
              <a:pathLst>
                <a:path h="32639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309499"/>
                  </a:lnTo>
                  <a:cubicBezTo>
                    <a:pt x="8568182" y="318897"/>
                    <a:pt x="8560562" y="326390"/>
                    <a:pt x="85512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8551291" y="292608"/>
                  </a:lnTo>
                  <a:lnTo>
                    <a:pt x="8551291" y="309499"/>
                  </a:lnTo>
                  <a:lnTo>
                    <a:pt x="8534400" y="30949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0996679" y="6900167"/>
            <a:ext cx="6243780" cy="244859"/>
            <a:chOff x="0" y="0"/>
            <a:chExt cx="8325040" cy="32647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8291195" cy="292608"/>
            </a:xfrm>
            <a:custGeom>
              <a:avLst/>
              <a:gdLst/>
              <a:ahLst/>
              <a:cxnLst/>
              <a:rect r="r" b="b" t="t" l="l"/>
              <a:pathLst>
                <a:path h="292608" w="8291195">
                  <a:moveTo>
                    <a:pt x="0" y="0"/>
                  </a:moveTo>
                  <a:lnTo>
                    <a:pt x="8291195" y="0"/>
                  </a:lnTo>
                  <a:lnTo>
                    <a:pt x="8291195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8324977" cy="326392"/>
            </a:xfrm>
            <a:custGeom>
              <a:avLst/>
              <a:gdLst/>
              <a:ahLst/>
              <a:cxnLst/>
              <a:rect r="r" b="b" t="t" l="l"/>
              <a:pathLst>
                <a:path h="326392" w="8324977">
                  <a:moveTo>
                    <a:pt x="16891" y="0"/>
                  </a:moveTo>
                  <a:lnTo>
                    <a:pt x="8308086" y="0"/>
                  </a:lnTo>
                  <a:cubicBezTo>
                    <a:pt x="8317484" y="0"/>
                    <a:pt x="8324977" y="7620"/>
                    <a:pt x="8324977" y="16891"/>
                  </a:cubicBezTo>
                  <a:lnTo>
                    <a:pt x="8324977" y="309499"/>
                  </a:lnTo>
                  <a:cubicBezTo>
                    <a:pt x="8324977" y="318897"/>
                    <a:pt x="8317357" y="326390"/>
                    <a:pt x="8308086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8308086" y="292608"/>
                  </a:lnTo>
                  <a:lnTo>
                    <a:pt x="8308086" y="309499"/>
                  </a:lnTo>
                  <a:lnTo>
                    <a:pt x="8291195" y="309499"/>
                  </a:lnTo>
                  <a:lnTo>
                    <a:pt x="8291195" y="16891"/>
                  </a:lnTo>
                  <a:lnTo>
                    <a:pt x="8308086" y="16891"/>
                  </a:lnTo>
                  <a:lnTo>
                    <a:pt x="830808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1009376" y="7534656"/>
            <a:ext cx="2011680" cy="493776"/>
            <a:chOff x="0" y="0"/>
            <a:chExt cx="2682240" cy="65836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3075920" y="7534656"/>
            <a:ext cx="2011680" cy="493776"/>
            <a:chOff x="0" y="0"/>
            <a:chExt cx="2682240" cy="658368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682240" cy="658368"/>
            </a:xfrm>
            <a:custGeom>
              <a:avLst/>
              <a:gdLst/>
              <a:ahLst/>
              <a:cxnLst/>
              <a:rect r="r" b="b" t="t" l="l"/>
              <a:pathLst>
                <a:path h="6583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383" r="0" b="-29383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47625"/>
              <a:ext cx="268224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0.6211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5142464" y="7534656"/>
            <a:ext cx="2286000" cy="493776"/>
            <a:chOff x="0" y="0"/>
            <a:chExt cx="3048000" cy="658368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048000" cy="658368"/>
            </a:xfrm>
            <a:custGeom>
              <a:avLst/>
              <a:gdLst/>
              <a:ahLst/>
              <a:cxnLst/>
              <a:rect r="r" b="b" t="t" l="l"/>
              <a:pathLst>
                <a:path h="65836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08" r="0" b="-40208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304800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±0.0176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0996679" y="8070599"/>
            <a:ext cx="6426203" cy="244859"/>
            <a:chOff x="0" y="0"/>
            <a:chExt cx="8568271" cy="326479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16891" y="16891"/>
              <a:ext cx="853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8568182" cy="326392"/>
            </a:xfrm>
            <a:custGeom>
              <a:avLst/>
              <a:gdLst/>
              <a:ahLst/>
              <a:cxnLst/>
              <a:rect r="r" b="b" t="t" l="l"/>
              <a:pathLst>
                <a:path h="32639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309499"/>
                  </a:lnTo>
                  <a:cubicBezTo>
                    <a:pt x="8568182" y="318897"/>
                    <a:pt x="8560562" y="326390"/>
                    <a:pt x="85512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8551291" y="292608"/>
                  </a:lnTo>
                  <a:lnTo>
                    <a:pt x="8551291" y="309499"/>
                  </a:lnTo>
                  <a:lnTo>
                    <a:pt x="8534400" y="30949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10996679" y="8070599"/>
            <a:ext cx="4000938" cy="244859"/>
            <a:chOff x="0" y="0"/>
            <a:chExt cx="5334584" cy="326479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16891" y="16891"/>
              <a:ext cx="5300726" cy="292608"/>
            </a:xfrm>
            <a:custGeom>
              <a:avLst/>
              <a:gdLst/>
              <a:ahLst/>
              <a:cxnLst/>
              <a:rect r="r" b="b" t="t" l="l"/>
              <a:pathLst>
                <a:path h="292608" w="5300726">
                  <a:moveTo>
                    <a:pt x="0" y="0"/>
                  </a:moveTo>
                  <a:lnTo>
                    <a:pt x="5300726" y="0"/>
                  </a:lnTo>
                  <a:lnTo>
                    <a:pt x="530072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5334508" cy="326392"/>
            </a:xfrm>
            <a:custGeom>
              <a:avLst/>
              <a:gdLst/>
              <a:ahLst/>
              <a:cxnLst/>
              <a:rect r="r" b="b" t="t" l="l"/>
              <a:pathLst>
                <a:path h="326392" w="5334508">
                  <a:moveTo>
                    <a:pt x="16891" y="0"/>
                  </a:moveTo>
                  <a:lnTo>
                    <a:pt x="5317617" y="0"/>
                  </a:lnTo>
                  <a:cubicBezTo>
                    <a:pt x="5327015" y="0"/>
                    <a:pt x="5334508" y="7620"/>
                    <a:pt x="5334508" y="16891"/>
                  </a:cubicBezTo>
                  <a:lnTo>
                    <a:pt x="5334508" y="309499"/>
                  </a:lnTo>
                  <a:cubicBezTo>
                    <a:pt x="5334508" y="318897"/>
                    <a:pt x="5326888" y="326390"/>
                    <a:pt x="531761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17617" y="292608"/>
                  </a:lnTo>
                  <a:lnTo>
                    <a:pt x="5317617" y="309499"/>
                  </a:lnTo>
                  <a:lnTo>
                    <a:pt x="5300726" y="309499"/>
                  </a:lnTo>
                  <a:lnTo>
                    <a:pt x="5300726" y="16891"/>
                  </a:lnTo>
                  <a:lnTo>
                    <a:pt x="5317617" y="16891"/>
                  </a:lnTo>
                  <a:lnTo>
                    <a:pt x="531761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10777223" y="9460487"/>
            <a:ext cx="6883403" cy="244859"/>
            <a:chOff x="0" y="0"/>
            <a:chExt cx="9177871" cy="326479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16891" y="16891"/>
              <a:ext cx="9144000" cy="292608"/>
            </a:xfrm>
            <a:custGeom>
              <a:avLst/>
              <a:gdLst/>
              <a:ahLst/>
              <a:cxnLst/>
              <a:rect r="r" b="b" t="t" l="l"/>
              <a:pathLst>
                <a:path h="292608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9177782" cy="326392"/>
            </a:xfrm>
            <a:custGeom>
              <a:avLst/>
              <a:gdLst/>
              <a:ahLst/>
              <a:cxnLst/>
              <a:rect r="r" b="b" t="t" l="l"/>
              <a:pathLst>
                <a:path h="326392" w="9177782">
                  <a:moveTo>
                    <a:pt x="16891" y="0"/>
                  </a:moveTo>
                  <a:lnTo>
                    <a:pt x="9160891" y="0"/>
                  </a:lnTo>
                  <a:cubicBezTo>
                    <a:pt x="9170289" y="0"/>
                    <a:pt x="9177782" y="7620"/>
                    <a:pt x="9177782" y="16891"/>
                  </a:cubicBezTo>
                  <a:lnTo>
                    <a:pt x="9177782" y="309499"/>
                  </a:lnTo>
                  <a:cubicBezTo>
                    <a:pt x="9177782" y="318897"/>
                    <a:pt x="9170162" y="326390"/>
                    <a:pt x="916089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9160891" y="292608"/>
                  </a:lnTo>
                  <a:lnTo>
                    <a:pt x="9160891" y="309499"/>
                  </a:lnTo>
                  <a:lnTo>
                    <a:pt x="9144000" y="309499"/>
                  </a:lnTo>
                  <a:lnTo>
                    <a:pt x="9144000" y="16891"/>
                  </a:lnTo>
                  <a:lnTo>
                    <a:pt x="9160891" y="16891"/>
                  </a:lnTo>
                  <a:lnTo>
                    <a:pt x="9160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630555" y="9536811"/>
            <a:ext cx="17026890" cy="366522"/>
            <a:chOff x="0" y="0"/>
            <a:chExt cx="22702520" cy="488696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12700" y="12700"/>
              <a:ext cx="22677120" cy="463296"/>
            </a:xfrm>
            <a:custGeom>
              <a:avLst/>
              <a:gdLst/>
              <a:ahLst/>
              <a:cxnLst/>
              <a:rect r="r" b="b" t="t" l="l"/>
              <a:pathLst>
                <a:path h="463296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463296"/>
                  </a:lnTo>
                  <a:lnTo>
                    <a:pt x="0" y="463296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22702520" cy="488696"/>
            </a:xfrm>
            <a:custGeom>
              <a:avLst/>
              <a:gdLst/>
              <a:ahLst/>
              <a:cxnLst/>
              <a:rect r="r" b="b" t="t" l="l"/>
              <a:pathLst>
                <a:path h="488696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475996"/>
                  </a:lnTo>
                  <a:cubicBezTo>
                    <a:pt x="22702520" y="482981"/>
                    <a:pt x="22696805" y="488696"/>
                    <a:pt x="22689820" y="488696"/>
                  </a:cubicBezTo>
                  <a:lnTo>
                    <a:pt x="12700" y="488696"/>
                  </a:lnTo>
                  <a:cubicBezTo>
                    <a:pt x="5715" y="488696"/>
                    <a:pt x="0" y="482981"/>
                    <a:pt x="0" y="47599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75996"/>
                  </a:lnTo>
                  <a:lnTo>
                    <a:pt x="12700" y="475996"/>
                  </a:lnTo>
                  <a:lnTo>
                    <a:pt x="12700" y="463296"/>
                  </a:lnTo>
                  <a:lnTo>
                    <a:pt x="22689820" y="463296"/>
                  </a:lnTo>
                  <a:lnTo>
                    <a:pt x="22689820" y="475996"/>
                  </a:lnTo>
                  <a:lnTo>
                    <a:pt x="22677120" y="475996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914400" y="9546336"/>
            <a:ext cx="16642080" cy="347472"/>
            <a:chOff x="0" y="0"/>
            <a:chExt cx="22189440" cy="46329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22189439" cy="463296"/>
            </a:xfrm>
            <a:custGeom>
              <a:avLst/>
              <a:gdLst/>
              <a:ahLst/>
              <a:cxnLst/>
              <a:rect r="r" b="b" t="t" l="l"/>
              <a:pathLst>
                <a:path h="46329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3230" r="0" b="-883230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38100"/>
              <a:ext cx="22189440" cy="50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 Recall 62% — déséquilibre des classes : piste d'amélioration via SMOTE ou class_weight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25987"/>
            <a:chOff x="0" y="0"/>
            <a:chExt cx="24417871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29383" y="261623"/>
            <a:ext cx="1305563" cy="610619"/>
            <a:chOff x="0" y="0"/>
            <a:chExt cx="1740751" cy="814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0662" cy="814072"/>
            </a:xfrm>
            <a:custGeom>
              <a:avLst/>
              <a:gdLst/>
              <a:ahLst/>
              <a:cxnLst/>
              <a:rect r="r" b="b" t="t" l="l"/>
              <a:pathLst>
                <a:path h="81407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797179"/>
                  </a:lnTo>
                  <a:cubicBezTo>
                    <a:pt x="1740662" y="806577"/>
                    <a:pt x="1733042" y="814070"/>
                    <a:pt x="17237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723771" y="780288"/>
                  </a:lnTo>
                  <a:lnTo>
                    <a:pt x="1723771" y="797179"/>
                  </a:lnTo>
                  <a:lnTo>
                    <a:pt x="1706880" y="797179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642080" y="274320"/>
            <a:ext cx="1280160" cy="585216"/>
            <a:chOff x="0" y="0"/>
            <a:chExt cx="17068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329184"/>
            <a:ext cx="15727680" cy="822960"/>
            <a:chOff x="0" y="0"/>
            <a:chExt cx="209702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209702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Perspectives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7383" y="1121159"/>
            <a:ext cx="17033243" cy="61979"/>
            <a:chOff x="0" y="0"/>
            <a:chExt cx="22710991" cy="82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677119" cy="48768"/>
            </a:xfrm>
            <a:custGeom>
              <a:avLst/>
              <a:gdLst/>
              <a:ahLst/>
              <a:cxnLst/>
              <a:rect r="r" b="b" t="t" l="l"/>
              <a:pathLst>
                <a:path h="48768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10902" cy="82552"/>
            </a:xfrm>
            <a:custGeom>
              <a:avLst/>
              <a:gdLst/>
              <a:ahLst/>
              <a:cxnLst/>
              <a:rect r="r" b="b" t="t" l="l"/>
              <a:pathLst>
                <a:path h="8255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65659"/>
                  </a:lnTo>
                  <a:cubicBezTo>
                    <a:pt x="22710902" y="75057"/>
                    <a:pt x="22703282" y="82550"/>
                    <a:pt x="2269401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2694010" y="48768"/>
                  </a:lnTo>
                  <a:lnTo>
                    <a:pt x="22694010" y="65659"/>
                  </a:lnTo>
                  <a:lnTo>
                    <a:pt x="22677120" y="65659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26464"/>
            <a:ext cx="17007840" cy="694944"/>
            <a:chOff x="0" y="0"/>
            <a:chExt cx="2267712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926592"/>
            </a:xfrm>
            <a:custGeom>
              <a:avLst/>
              <a:gdLst/>
              <a:ahLst/>
              <a:cxnLst/>
              <a:rect r="r" b="b" t="t" l="l"/>
              <a:pathLst>
                <a:path h="92659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6870" r="0" b="-4268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677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que le projet démontre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555" y="2221611"/>
            <a:ext cx="17026890" cy="1445514"/>
            <a:chOff x="0" y="0"/>
            <a:chExt cx="22702520" cy="19273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22677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702520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1914652"/>
                  </a:lnTo>
                  <a:cubicBezTo>
                    <a:pt x="22702520" y="1921637"/>
                    <a:pt x="22696805" y="1927352"/>
                    <a:pt x="22689820" y="1927352"/>
                  </a:cubicBezTo>
                  <a:lnTo>
                    <a:pt x="12700" y="1927352"/>
                  </a:lnTo>
                  <a:cubicBezTo>
                    <a:pt x="5715" y="1927352"/>
                    <a:pt x="0" y="1921637"/>
                    <a:pt x="0" y="19146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14652"/>
                  </a:lnTo>
                  <a:lnTo>
                    <a:pt x="12700" y="1914652"/>
                  </a:lnTo>
                  <a:lnTo>
                    <a:pt x="12700" y="1901952"/>
                  </a:lnTo>
                  <a:lnTo>
                    <a:pt x="22689820" y="1901952"/>
                  </a:lnTo>
                  <a:lnTo>
                    <a:pt x="22689820" y="1914652"/>
                  </a:lnTo>
                  <a:lnTo>
                    <a:pt x="22677120" y="1914652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27383" y="2218439"/>
            <a:ext cx="153419" cy="1451867"/>
            <a:chOff x="0" y="0"/>
            <a:chExt cx="204559" cy="19358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231136"/>
            <a:ext cx="731520" cy="1426464"/>
            <a:chOff x="0" y="0"/>
            <a:chExt cx="975360" cy="19019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191" t="0" r="-20019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75360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7360" y="2231136"/>
            <a:ext cx="15636240" cy="1426464"/>
            <a:chOff x="0" y="0"/>
            <a:chExt cx="20848320" cy="19019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848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84832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 signaux disponibles avant livraison (prix, frais, catégorie, temporalité) suffisent à identifier les commandes à risque avec une très haute précision.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0555" y="3830955"/>
            <a:ext cx="17026890" cy="1445514"/>
            <a:chOff x="0" y="0"/>
            <a:chExt cx="22702520" cy="19273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22677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702520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1914652"/>
                  </a:lnTo>
                  <a:cubicBezTo>
                    <a:pt x="22702520" y="1921637"/>
                    <a:pt x="22696805" y="1927352"/>
                    <a:pt x="22689820" y="1927352"/>
                  </a:cubicBezTo>
                  <a:lnTo>
                    <a:pt x="12700" y="1927352"/>
                  </a:lnTo>
                  <a:cubicBezTo>
                    <a:pt x="5715" y="1927352"/>
                    <a:pt x="0" y="1921637"/>
                    <a:pt x="0" y="19146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14652"/>
                  </a:lnTo>
                  <a:lnTo>
                    <a:pt x="12700" y="1914652"/>
                  </a:lnTo>
                  <a:lnTo>
                    <a:pt x="12700" y="1901952"/>
                  </a:lnTo>
                  <a:lnTo>
                    <a:pt x="22689820" y="1901952"/>
                  </a:lnTo>
                  <a:lnTo>
                    <a:pt x="22689820" y="1914652"/>
                  </a:lnTo>
                  <a:lnTo>
                    <a:pt x="22677120" y="1914652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27383" y="3827783"/>
            <a:ext cx="153419" cy="1451867"/>
            <a:chOff x="0" y="0"/>
            <a:chExt cx="204559" cy="19358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3840480"/>
            <a:ext cx="731520" cy="1426464"/>
            <a:chOff x="0" y="0"/>
            <a:chExt cx="975360" cy="19019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191" t="0" r="-20019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75360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37360" y="3840480"/>
            <a:ext cx="15636240" cy="1426464"/>
            <a:chOff x="0" y="0"/>
            <a:chExt cx="20848320" cy="19019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848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84832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domine avec 99.55% d'Accuracy et AUC-ROC 0.894, confirmant la robustesse des méthodes ensemblistes sur des données déséquilibrées.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30555" y="5440299"/>
            <a:ext cx="17026890" cy="1445514"/>
            <a:chOff x="0" y="0"/>
            <a:chExt cx="22702520" cy="19273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22677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702520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702520">
                  <a:moveTo>
                    <a:pt x="12700" y="0"/>
                  </a:moveTo>
                  <a:lnTo>
                    <a:pt x="22689820" y="0"/>
                  </a:lnTo>
                  <a:cubicBezTo>
                    <a:pt x="22696805" y="0"/>
                    <a:pt x="22702520" y="5715"/>
                    <a:pt x="22702520" y="12700"/>
                  </a:cubicBezTo>
                  <a:lnTo>
                    <a:pt x="22702520" y="1914652"/>
                  </a:lnTo>
                  <a:cubicBezTo>
                    <a:pt x="22702520" y="1921637"/>
                    <a:pt x="22696805" y="1927352"/>
                    <a:pt x="22689820" y="1927352"/>
                  </a:cubicBezTo>
                  <a:lnTo>
                    <a:pt x="12700" y="1927352"/>
                  </a:lnTo>
                  <a:cubicBezTo>
                    <a:pt x="5715" y="1927352"/>
                    <a:pt x="0" y="1921637"/>
                    <a:pt x="0" y="191465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14652"/>
                  </a:lnTo>
                  <a:lnTo>
                    <a:pt x="12700" y="1914652"/>
                  </a:lnTo>
                  <a:lnTo>
                    <a:pt x="12700" y="1901952"/>
                  </a:lnTo>
                  <a:lnTo>
                    <a:pt x="22689820" y="1901952"/>
                  </a:lnTo>
                  <a:lnTo>
                    <a:pt x="22689820" y="1914652"/>
                  </a:lnTo>
                  <a:lnTo>
                    <a:pt x="22677120" y="1914652"/>
                  </a:lnTo>
                  <a:lnTo>
                    <a:pt x="22677120" y="12700"/>
                  </a:lnTo>
                  <a:lnTo>
                    <a:pt x="22689820" y="12700"/>
                  </a:lnTo>
                  <a:lnTo>
                    <a:pt x="22689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27383" y="5437127"/>
            <a:ext cx="153419" cy="1451867"/>
            <a:chOff x="0" y="0"/>
            <a:chExt cx="204559" cy="19358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5449824"/>
            <a:ext cx="731520" cy="1426464"/>
            <a:chOff x="0" y="0"/>
            <a:chExt cx="975360" cy="19019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191" t="0" r="-20019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75360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37360" y="5449824"/>
            <a:ext cx="15636240" cy="1426464"/>
            <a:chOff x="0" y="0"/>
            <a:chExt cx="20848320" cy="19019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8483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848320" cy="1949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pipeline (data_loader → preprocessing → modeling → evaluation) est modulaire, reproductible et facilement maintenable en production.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0080" y="7077456"/>
            <a:ext cx="9144000" cy="658368"/>
            <a:chOff x="0" y="0"/>
            <a:chExt cx="1219200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219200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Perspectives d'amélioration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33727" y="7820911"/>
            <a:ext cx="8242297" cy="817369"/>
            <a:chOff x="0" y="0"/>
            <a:chExt cx="10989729" cy="108982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59536" y="7827264"/>
            <a:ext cx="7863840" cy="804672"/>
            <a:chOff x="0" y="0"/>
            <a:chExt cx="1048512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SMOTE / class_weight pour le déséquilibre des classes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33727" y="8771887"/>
            <a:ext cx="8242297" cy="817369"/>
            <a:chOff x="0" y="0"/>
            <a:chExt cx="10989729" cy="108982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9536" y="8778240"/>
            <a:ext cx="7863840" cy="804672"/>
            <a:chOff x="0" y="0"/>
            <a:chExt cx="10485120" cy="1072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Optimisation des hyperparamètres (GridSearchCV)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320527" y="7820911"/>
            <a:ext cx="8242297" cy="817369"/>
            <a:chOff x="0" y="0"/>
            <a:chExt cx="10989729" cy="10898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46336" y="7827264"/>
            <a:ext cx="7863840" cy="804672"/>
            <a:chOff x="0" y="0"/>
            <a:chExt cx="10485120" cy="10728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Intégration de features NLP (commentaires clients)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20527" y="8771887"/>
            <a:ext cx="8242297" cy="817369"/>
            <a:chOff x="0" y="0"/>
            <a:chExt cx="10989729" cy="108982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10972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0D284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89818" cy="1089914"/>
            </a:xfrm>
            <a:custGeom>
              <a:avLst/>
              <a:gdLst/>
              <a:ahLst/>
              <a:cxnLst/>
              <a:rect r="r" b="b" t="t" l="l"/>
              <a:pathLst>
                <a:path h="1089914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081405"/>
                  </a:lnTo>
                  <a:cubicBezTo>
                    <a:pt x="10989818" y="1086104"/>
                    <a:pt x="10986008" y="1089914"/>
                    <a:pt x="1098130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10981309" y="1072896"/>
                  </a:lnTo>
                  <a:lnTo>
                    <a:pt x="10981309" y="1081405"/>
                  </a:lnTo>
                  <a:lnTo>
                    <a:pt x="10972800" y="1081405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46336" y="8778240"/>
            <a:ext cx="7863840" cy="804672"/>
            <a:chOff x="0" y="0"/>
            <a:chExt cx="10485120" cy="10728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4851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421" r="0" b="-14042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48512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Déploiement via API (FastAPI + Docker)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DAHG7ZQB12w</dc:identifier>
  <dcterms:modified xsi:type="dcterms:W3CDTF">2011-08-01T06:04:30Z</dcterms:modified>
  <cp:revision>1</cp:revision>
  <dc:title>ML_presentation_vf</dc:title>
</cp:coreProperties>
</file>